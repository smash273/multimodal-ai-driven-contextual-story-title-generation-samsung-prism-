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5" r:id="rId7"/>
    <p:sldId id="261" r:id="rId8"/>
    <p:sldId id="262" r:id="rId9"/>
    <p:sldId id="264" r:id="rId10"/>
    <p:sldId id="267" r:id="rId11"/>
    <p:sldId id="268" r:id="rId12"/>
    <p:sldId id="266" r:id="rId13"/>
    <p:sldId id="269" r:id="rId14"/>
    <p:sldId id="271" r:id="rId15"/>
    <p:sldId id="263" r:id="rId1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hasCustomPrompt="1"/>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hasCustomPrompt="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xfrm>
            <a:off x="11095178" y="6414761"/>
            <a:ext cx="258623" cy="248303"/>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hasCustomPrompt="1"/>
          </p:nvPr>
        </p:nvSpPr>
        <p:spPr>
          <a:prstGeom prst="rect">
            <a:avLst/>
          </a:prstGeom>
        </p:spPr>
        <p:txBody>
          <a:bodyPr/>
          <a:lstStyle/>
          <a:p>
            <a:r>
              <a:t>Title Text</a:t>
            </a:r>
          </a:p>
        </p:txBody>
      </p:sp>
      <p:sp>
        <p:nvSpPr>
          <p:cNvPr id="21" name="Body Level One…"/>
          <p:cNvSpPr txBox="1">
            <a:spLocks noGrp="1"/>
          </p:cNvSpPr>
          <p:nvPr>
            <p:ph type="body" idx="1" hasCustomPrompt="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hasCustomPrompt="1"/>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hasCustomPrompt="1"/>
          </p:nvPr>
        </p:nvSpPr>
        <p:spPr>
          <a:xfrm>
            <a:off x="831850" y="4589462"/>
            <a:ext cx="10515600" cy="1500189"/>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xfrm>
            <a:off x="11095178" y="6414761"/>
            <a:ext cx="258623" cy="248303"/>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hasCustomPrompt="1"/>
          </p:nvPr>
        </p:nvSpPr>
        <p:spPr>
          <a:prstGeom prst="rect">
            <a:avLst/>
          </a:prstGeom>
        </p:spPr>
        <p:txBody>
          <a:bodyPr/>
          <a:lstStyle/>
          <a:p>
            <a:r>
              <a:t>Title Text</a:t>
            </a:r>
          </a:p>
        </p:txBody>
      </p:sp>
      <p:sp>
        <p:nvSpPr>
          <p:cNvPr id="39" name="Body Level One…"/>
          <p:cNvSpPr txBox="1">
            <a:spLocks noGrp="1"/>
          </p:cNvSpPr>
          <p:nvPr>
            <p:ph type="body" sz="half" idx="1" hasCustomPrompt="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xfrm>
            <a:off x="11095178" y="6414761"/>
            <a:ext cx="258623" cy="248303"/>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hasCustomPrompt="1"/>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hasCustomPrompt="1"/>
          </p:nvPr>
        </p:nvSpPr>
        <p:spPr>
          <a:xfrm>
            <a:off x="839787" y="1681163"/>
            <a:ext cx="5157790" cy="823914"/>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4"/>
          </a:xfrm>
          <a:prstGeom prst="rect">
            <a:avLst/>
          </a:prstGeom>
        </p:spPr>
        <p:txBody>
          <a:bodyPr anchor="b"/>
          <a:lstStyle/>
          <a:p>
            <a:endParaRPr/>
          </a:p>
        </p:txBody>
      </p:sp>
      <p:sp>
        <p:nvSpPr>
          <p:cNvPr id="50" name="Slide Number"/>
          <p:cNvSpPr txBox="1">
            <a:spLocks noGrp="1"/>
          </p:cNvSpPr>
          <p:nvPr>
            <p:ph type="sldNum" sz="quarter" idx="2"/>
          </p:nvPr>
        </p:nvSpPr>
        <p:spPr>
          <a:xfrm>
            <a:off x="11095178" y="6414761"/>
            <a:ext cx="258623" cy="248303"/>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hasCustomPrompt="1"/>
          </p:nvPr>
        </p:nvSpPr>
        <p:spPr>
          <a:prstGeom prst="rect">
            <a:avLst/>
          </a:prstGeom>
        </p:spPr>
        <p:txBody>
          <a:bodyPr/>
          <a:lstStyle/>
          <a:p>
            <a:r>
              <a:t>Title Text</a:t>
            </a:r>
          </a:p>
        </p:txBody>
      </p:sp>
      <p:sp>
        <p:nvSpPr>
          <p:cNvPr id="58" name="Slide Number"/>
          <p:cNvSpPr txBox="1">
            <a:spLocks noGrp="1"/>
          </p:cNvSpPr>
          <p:nvPr>
            <p:ph type="sldNum" sz="quarter" idx="2"/>
          </p:nvPr>
        </p:nvSpPr>
        <p:spPr>
          <a:xfrm>
            <a:off x="11095178" y="6414761"/>
            <a:ext cx="258623" cy="248303"/>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xfrm>
            <a:off x="11095178" y="6414761"/>
            <a:ext cx="258623" cy="248303"/>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hasCustomPrompt="1"/>
          </p:nvPr>
        </p:nvSpPr>
        <p:spPr>
          <a:xfrm>
            <a:off x="5183187" y="987425"/>
            <a:ext cx="6172202"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40" cy="3811588"/>
          </a:xfrm>
          <a:prstGeom prst="rect">
            <a:avLst/>
          </a:prstGeom>
        </p:spPr>
        <p:txBody>
          <a:bodyPr/>
          <a:lstStyle/>
          <a:p>
            <a:endParaRPr/>
          </a:p>
        </p:txBody>
      </p:sp>
      <p:sp>
        <p:nvSpPr>
          <p:cNvPr id="75" name="Slide Number"/>
          <p:cNvSpPr txBox="1">
            <a:spLocks noGrp="1"/>
          </p:cNvSpPr>
          <p:nvPr>
            <p:ph type="sldNum" sz="quarter" idx="2"/>
          </p:nvPr>
        </p:nvSpPr>
        <p:spPr>
          <a:xfrm>
            <a:off x="11095178" y="6414761"/>
            <a:ext cx="258623" cy="248303"/>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2" cy="4873625"/>
          </a:xfrm>
          <a:prstGeom prst="rect">
            <a:avLst/>
          </a:prstGeom>
        </p:spPr>
        <p:txBody>
          <a:bodyPr lIns="91439" tIns="45719" rIns="91439" bIns="45719">
            <a:noAutofit/>
          </a:bodyPr>
          <a:lstStyle/>
          <a:p>
            <a:endParaRPr/>
          </a:p>
        </p:txBody>
      </p:sp>
      <p:sp>
        <p:nvSpPr>
          <p:cNvPr id="84" name="Body Level One…"/>
          <p:cNvSpPr txBox="1">
            <a:spLocks noGrp="1"/>
          </p:cNvSpPr>
          <p:nvPr>
            <p:ph type="body" sz="quarter" idx="1" hasCustomPrompt="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xfrm>
            <a:off x="11095178" y="6414761"/>
            <a:ext cx="258623" cy="248303"/>
          </a:xfrm>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p:spPr>
        <p:txBody>
          <a:bodyPr lIns="45718" tIns="45718" rIns="45718" bIns="45718"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p:spPr>
        <p:txBody>
          <a:bodyPr lIns="45718" tIns="45718" rIns="45718" bIns="45718">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8" y="6414761"/>
            <a:ext cx="258623" cy="248303"/>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2pPr>
      <a:lvl3pPr marL="1234440" marR="0" indent="-32004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ivi.fnwi.uva.nl/isis/mediamill/datasets/videostory.php"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huggingface.co/datasets/AlexZigma/msr-vtt"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7.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1.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7"/>
          <p:cNvSpPr/>
          <p:nvPr/>
        </p:nvSpPr>
        <p:spPr>
          <a:xfrm>
            <a:off x="-2" y="742109"/>
            <a:ext cx="11840511" cy="924141"/>
          </a:xfrm>
          <a:prstGeom prst="rect">
            <a:avLst/>
          </a:prstGeom>
          <a:solidFill>
            <a:srgbClr val="404040"/>
          </a:solidFill>
          <a:ln w="12700">
            <a:miter lim="400000"/>
          </a:ln>
          <a:effectLst>
            <a:outerShdw blurRad="50800" dist="38100" dir="8100000" rotWithShape="0">
              <a:srgbClr val="000000">
                <a:alpha val="40000"/>
              </a:srgbClr>
            </a:outerShdw>
          </a:effectLst>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95" name="Rectangle 10"/>
          <p:cNvSpPr/>
          <p:nvPr/>
        </p:nvSpPr>
        <p:spPr>
          <a:xfrm>
            <a:off x="1" y="105044"/>
            <a:ext cx="169332" cy="482533"/>
          </a:xfrm>
          <a:prstGeom prst="rect">
            <a:avLst/>
          </a:prstGeom>
          <a:solidFill>
            <a:srgbClr val="0E4094"/>
          </a:solidFill>
          <a:ln w="12700">
            <a:miter lim="400000"/>
          </a:ln>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96" name="TextBox 11"/>
          <p:cNvSpPr txBox="1"/>
          <p:nvPr/>
        </p:nvSpPr>
        <p:spPr>
          <a:xfrm>
            <a:off x="329183" y="180168"/>
            <a:ext cx="9931905" cy="396239"/>
          </a:xfrm>
          <a:prstGeom prst="rect">
            <a:avLst/>
          </a:prstGeom>
          <a:ln w="12700">
            <a:miter lim="400000"/>
          </a:ln>
        </p:spPr>
        <p:txBody>
          <a:bodyPr lIns="45718" tIns="45718" rIns="45718" bIns="45718" anchor="ctr">
            <a:spAutoFit/>
          </a:bodyPr>
          <a:lstStyle>
            <a:lvl1pPr>
              <a:defRPr sz="2000">
                <a:latin typeface="SamsungOne 600C"/>
                <a:ea typeface="SamsungOne 600C"/>
                <a:cs typeface="SamsungOne 600C"/>
                <a:sym typeface="SamsungOne 600C"/>
              </a:defRPr>
            </a:lvl1pPr>
          </a:lstStyle>
          <a:p>
            <a:r>
              <a:t>Work-let Name: Multimodal AI-Driven Contextual Story Title Generation</a:t>
            </a:r>
          </a:p>
        </p:txBody>
      </p:sp>
      <p:sp>
        <p:nvSpPr>
          <p:cNvPr id="97" name="Rectangle 13"/>
          <p:cNvSpPr/>
          <p:nvPr/>
        </p:nvSpPr>
        <p:spPr>
          <a:xfrm>
            <a:off x="237965" y="105044"/>
            <a:ext cx="75302" cy="482533"/>
          </a:xfrm>
          <a:prstGeom prst="rect">
            <a:avLst/>
          </a:prstGeom>
          <a:solidFill>
            <a:srgbClr val="BFBFBF"/>
          </a:solidFill>
          <a:ln w="12700">
            <a:miter lim="400000"/>
          </a:ln>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98" name="Rectangle 24"/>
          <p:cNvSpPr txBox="1"/>
          <p:nvPr/>
        </p:nvSpPr>
        <p:spPr>
          <a:xfrm>
            <a:off x="218877" y="715653"/>
            <a:ext cx="1751555" cy="370839"/>
          </a:xfrm>
          <a:prstGeom prst="rect">
            <a:avLst/>
          </a:prstGeom>
          <a:ln w="12700">
            <a:miter lim="400000"/>
          </a:ln>
        </p:spPr>
        <p:txBody>
          <a:bodyPr wrap="none" lIns="45718" tIns="45718" rIns="45718" bIns="45718">
            <a:spAutoFit/>
          </a:bodyPr>
          <a:lstStyle>
            <a:lvl1pPr>
              <a:defRPr b="1">
                <a:solidFill>
                  <a:schemeClr val="accent6"/>
                </a:solidFill>
                <a:latin typeface="SamsungOne 600C"/>
                <a:ea typeface="SamsungOne 600C"/>
                <a:cs typeface="SamsungOne 600C"/>
                <a:sym typeface="SamsungOne 600C"/>
              </a:defRPr>
            </a:lvl1pPr>
          </a:lstStyle>
          <a:p>
            <a:r>
              <a:t>Worklet Details</a:t>
            </a:r>
          </a:p>
        </p:txBody>
      </p:sp>
      <p:sp>
        <p:nvSpPr>
          <p:cNvPr id="99" name="Rectangle 25"/>
          <p:cNvSpPr txBox="1"/>
          <p:nvPr/>
        </p:nvSpPr>
        <p:spPr>
          <a:xfrm>
            <a:off x="329182" y="1109868"/>
            <a:ext cx="4075757" cy="497839"/>
          </a:xfrm>
          <a:prstGeom prst="rect">
            <a:avLst/>
          </a:prstGeom>
          <a:ln w="12700">
            <a:miter lim="400000"/>
          </a:ln>
        </p:spPr>
        <p:txBody>
          <a:bodyPr lIns="45718" tIns="45718" rIns="45718" bIns="45718">
            <a:spAutoFit/>
          </a:bodyPr>
          <a:lstStyle/>
          <a:p>
            <a:pPr marL="228600" indent="-228600">
              <a:buSzPct val="100000"/>
              <a:buAutoNum type="arabicPeriod"/>
              <a:defRPr sz="1200">
                <a:solidFill>
                  <a:srgbClr val="FFFFFF"/>
                </a:solidFill>
                <a:latin typeface="SamsungOne 600C"/>
                <a:ea typeface="SamsungOne 600C"/>
                <a:cs typeface="SamsungOne 600C"/>
                <a:sym typeface="SamsungOne 600C"/>
              </a:defRPr>
            </a:pPr>
            <a:r>
              <a:t>Worklet ID: </a:t>
            </a:r>
            <a:r>
              <a:rPr sz="1400" b="1">
                <a:latin typeface="+mn-lt"/>
                <a:ea typeface="+mn-ea"/>
                <a:cs typeface="+mn-cs"/>
                <a:sym typeface="Calibri"/>
              </a:rPr>
              <a:t>25SPF15</a:t>
            </a:r>
            <a:endParaRPr sz="1400"/>
          </a:p>
          <a:p>
            <a:pPr marL="228600" indent="-228600">
              <a:buSzPct val="100000"/>
              <a:buAutoNum type="arabicPeriod"/>
              <a:defRPr sz="1200">
                <a:solidFill>
                  <a:srgbClr val="FFFFFF"/>
                </a:solidFill>
                <a:latin typeface="SamsungOne 600C"/>
                <a:ea typeface="SamsungOne 600C"/>
                <a:cs typeface="SamsungOne 600C"/>
                <a:sym typeface="SamsungOne 600C"/>
              </a:defRPr>
            </a:pPr>
            <a:r>
              <a:t>College Name: Vellore Institute Of Technology, Vellore</a:t>
            </a:r>
          </a:p>
        </p:txBody>
      </p:sp>
      <p:pic>
        <p:nvPicPr>
          <p:cNvPr id="100" name="Picture 32" descr="Picture 32"/>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sp>
        <p:nvSpPr>
          <p:cNvPr id="102" name="Rectangle 33"/>
          <p:cNvSpPr/>
          <p:nvPr/>
        </p:nvSpPr>
        <p:spPr>
          <a:xfrm>
            <a:off x="167260" y="2037120"/>
            <a:ext cx="5867781" cy="1861251"/>
          </a:xfrm>
          <a:prstGeom prst="rect">
            <a:avLst/>
          </a:prstGeom>
          <a:solidFill>
            <a:srgbClr val="D9D9D9"/>
          </a:solidFill>
          <a:ln w="12700">
            <a:miter lim="400000"/>
          </a:ln>
          <a:effectLst>
            <a:outerShdw blurRad="50800" dist="38100" dir="8100000" rotWithShape="0">
              <a:srgbClr val="000000">
                <a:alpha val="40000"/>
              </a:srgbClr>
            </a:outerShdw>
          </a:effectLst>
        </p:spPr>
        <p:txBody>
          <a:bodyPr lIns="45718" tIns="45718" rIns="45718" bIns="45718" anchor="ctr"/>
          <a:lstStyle/>
          <a:p>
            <a:pPr>
              <a:defRPr sz="1200">
                <a:latin typeface="Arial" panose="020B0604020202090204"/>
                <a:ea typeface="Arial" panose="020B0604020202090204"/>
                <a:cs typeface="Arial" panose="020B0604020202090204"/>
                <a:sym typeface="Arial" panose="020B0604020202090204"/>
              </a:defRPr>
            </a:pPr>
            <a:endParaRPr/>
          </a:p>
        </p:txBody>
      </p:sp>
      <p:sp>
        <p:nvSpPr>
          <p:cNvPr id="104" name="Rectangle 38"/>
          <p:cNvSpPr txBox="1"/>
          <p:nvPr/>
        </p:nvSpPr>
        <p:spPr>
          <a:xfrm>
            <a:off x="369877" y="2036304"/>
            <a:ext cx="3105974" cy="923326"/>
          </a:xfrm>
          <a:prstGeom prst="rect">
            <a:avLst/>
          </a:prstGeom>
          <a:ln w="12700">
            <a:miter lim="400000"/>
          </a:ln>
        </p:spPr>
        <p:txBody>
          <a:bodyPr wrap="none" lIns="45718" tIns="45718" rIns="45718" bIns="45718">
            <a:spAutoFit/>
          </a:bodyPr>
          <a:lstStyle/>
          <a:p>
            <a:pPr>
              <a:defRPr b="1">
                <a:solidFill>
                  <a:srgbClr val="0E4094"/>
                </a:solidFill>
                <a:latin typeface="SamsungOne 600C"/>
                <a:ea typeface="SamsungOne 600C"/>
                <a:cs typeface="SamsungOne 600C"/>
                <a:sym typeface="SamsungOne 600C"/>
              </a:defRPr>
            </a:pPr>
            <a:r>
              <a:rPr dirty="0"/>
              <a:t>Technical Implementation KPI</a:t>
            </a:r>
            <a:r>
              <a:rPr lang="en-US" dirty="0"/>
              <a:t>s:</a:t>
            </a:r>
            <a:endParaRPr dirty="0"/>
          </a:p>
          <a:p>
            <a:pPr>
              <a:defRPr b="1">
                <a:solidFill>
                  <a:srgbClr val="0E4094"/>
                </a:solidFill>
                <a:latin typeface="SamsungOne 600C"/>
                <a:ea typeface="SamsungOne 600C"/>
                <a:cs typeface="SamsungOne 600C"/>
                <a:sym typeface="SamsungOne 600C"/>
              </a:defRPr>
            </a:pPr>
            <a:endParaRPr dirty="0"/>
          </a:p>
          <a:p>
            <a:pPr>
              <a:defRPr b="1">
                <a:solidFill>
                  <a:srgbClr val="0E4094"/>
                </a:solidFill>
                <a:latin typeface="SamsungOne 600C"/>
                <a:ea typeface="SamsungOne 600C"/>
                <a:cs typeface="SamsungOne 600C"/>
                <a:sym typeface="SamsungOne 600C"/>
              </a:defRPr>
            </a:pPr>
            <a:endParaRPr dirty="0"/>
          </a:p>
        </p:txBody>
      </p:sp>
      <p:grpSp>
        <p:nvGrpSpPr>
          <p:cNvPr id="111" name="Rectangle 41"/>
          <p:cNvGrpSpPr/>
          <p:nvPr/>
        </p:nvGrpSpPr>
        <p:grpSpPr>
          <a:xfrm>
            <a:off x="6133544" y="2047894"/>
            <a:ext cx="5867783" cy="1935697"/>
            <a:chOff x="-1" y="0"/>
            <a:chExt cx="5867782" cy="863989"/>
          </a:xfrm>
        </p:grpSpPr>
        <p:sp>
          <p:nvSpPr>
            <p:cNvPr id="109" name="Rectangle"/>
            <p:cNvSpPr/>
            <p:nvPr/>
          </p:nvSpPr>
          <p:spPr>
            <a:xfrm>
              <a:off x="-1" y="0"/>
              <a:ext cx="5867782" cy="830761"/>
            </a:xfrm>
            <a:prstGeom prst="rect">
              <a:avLst/>
            </a:prstGeom>
            <a:solidFill>
              <a:srgbClr val="D9D9D9"/>
            </a:solidFill>
            <a:ln w="12700" cap="flat">
              <a:noFill/>
              <a:miter lim="400000"/>
            </a:ln>
            <a:effectLst>
              <a:outerShdw blurRad="50800" dist="38100" dir="8100000" rotWithShape="0">
                <a:srgbClr val="000000">
                  <a:alpha val="40000"/>
                </a:srgbClr>
              </a:outerShdw>
            </a:effectLst>
          </p:spPr>
          <p:txBody>
            <a:bodyPr wrap="square" lIns="45718" tIns="45718" rIns="45718" bIns="45718" numCol="1" anchor="ctr">
              <a:noAutofit/>
            </a:bodyPr>
            <a:lstStyle/>
            <a:p>
              <a:pPr>
                <a:defRPr>
                  <a:solidFill>
                    <a:srgbClr val="FFFFFF"/>
                  </a:solidFill>
                </a:defRPr>
              </a:pPr>
              <a:endParaRPr dirty="0"/>
            </a:p>
          </p:txBody>
        </p:sp>
        <p:sp>
          <p:nvSpPr>
            <p:cNvPr id="110" name="Insufficient computational resources on both Google Colab and personal laptops.…"/>
            <p:cNvSpPr txBox="1"/>
            <p:nvPr/>
          </p:nvSpPr>
          <p:spPr>
            <a:xfrm>
              <a:off x="138722" y="173683"/>
              <a:ext cx="5590335" cy="690306"/>
            </a:xfrm>
            <a:prstGeom prst="rect">
              <a:avLst/>
            </a:prstGeom>
            <a:noFill/>
            <a:ln w="12700" cap="flat">
              <a:noFill/>
              <a:miter lim="400000"/>
            </a:ln>
            <a:effectLst/>
          </p:spPr>
          <p:txBody>
            <a:bodyPr wrap="square" lIns="45718" tIns="45718" rIns="45718" bIns="45718" numCol="1" anchor="ctr">
              <a:spAutoFit/>
            </a:bodyPr>
            <a:lstStyle/>
            <a:p>
              <a:pPr marL="342900" indent="-342900">
                <a:buAutoNum type="arabicPeriod"/>
              </a:pPr>
              <a:r>
                <a:rPr lang="en-US" sz="1400" dirty="0"/>
                <a:t>MSRVTT dataset contained low quality and noisy videos – this introduced noise in our clip embeddings and our </a:t>
              </a:r>
              <a:r>
                <a:rPr lang="en-US" sz="1400" dirty="0" err="1"/>
                <a:t>ocr</a:t>
              </a:r>
              <a:r>
                <a:rPr lang="en-US" sz="1400" dirty="0"/>
                <a:t> text as well.</a:t>
              </a:r>
            </a:p>
            <a:p>
              <a:pPr marL="342900" indent="-342900">
                <a:buAutoNum type="arabicPeriod"/>
              </a:pPr>
              <a:r>
                <a:rPr lang="en-US" sz="1400" dirty="0"/>
                <a:t>The videos were multilinguistic due to which the </a:t>
              </a:r>
              <a:r>
                <a:rPr lang="en-US" sz="1400" dirty="0" err="1"/>
                <a:t>ocr</a:t>
              </a:r>
              <a:r>
                <a:rPr lang="en-US" sz="1400" dirty="0"/>
                <a:t> couldn’t recognize the text very well and also the </a:t>
              </a:r>
              <a:r>
                <a:rPr lang="en-US" sz="1400" dirty="0" err="1"/>
                <a:t>asr</a:t>
              </a:r>
              <a:r>
                <a:rPr lang="en-US" sz="1400" dirty="0"/>
                <a:t> couldn’t work well.</a:t>
              </a:r>
            </a:p>
            <a:p>
              <a:pPr marL="342900" indent="-342900">
                <a:buAutoNum type="arabicPeriod"/>
              </a:pPr>
              <a:r>
                <a:rPr lang="en-US" sz="1400" dirty="0"/>
                <a:t>After many trial and errors on the initial architecture, we still faced many issues in the outputs due to the token stream and embeddings.</a:t>
              </a:r>
            </a:p>
            <a:p>
              <a:pPr>
                <a:buSzPct val="100000"/>
                <a:buChar char="•"/>
                <a:defRPr sz="1200" b="1">
                  <a:latin typeface="Arial" panose="020B0604020202090204"/>
                  <a:ea typeface="Arial" panose="020B0604020202090204"/>
                  <a:cs typeface="Arial" panose="020B0604020202090204"/>
                  <a:sym typeface="Arial" panose="020B0604020202090204"/>
                </a:defRPr>
              </a:pPr>
              <a:endParaRPr lang="en-US" sz="1050" b="0" dirty="0"/>
            </a:p>
          </p:txBody>
        </p:sp>
      </p:grpSp>
      <p:sp>
        <p:nvSpPr>
          <p:cNvPr id="112" name="Rectangle 42"/>
          <p:cNvSpPr txBox="1"/>
          <p:nvPr/>
        </p:nvSpPr>
        <p:spPr>
          <a:xfrm>
            <a:off x="6244101" y="2066178"/>
            <a:ext cx="3318492" cy="370839"/>
          </a:xfrm>
          <a:prstGeom prst="rect">
            <a:avLst/>
          </a:prstGeom>
          <a:ln w="12700">
            <a:miter lim="400000"/>
          </a:ln>
        </p:spPr>
        <p:txBody>
          <a:bodyPr wrap="none" lIns="45718" tIns="45718" rIns="45718" bIns="45718">
            <a:spAutoFit/>
          </a:bodyPr>
          <a:lstStyle>
            <a:lvl1pPr>
              <a:defRPr b="1">
                <a:solidFill>
                  <a:srgbClr val="0E4094"/>
                </a:solidFill>
                <a:latin typeface="SamsungOne 600C"/>
                <a:ea typeface="SamsungOne 600C"/>
                <a:cs typeface="SamsungOne 600C"/>
                <a:sym typeface="SamsungOne 600C"/>
              </a:defRPr>
            </a:lvl1pPr>
          </a:lstStyle>
          <a:p>
            <a:r>
              <a:t>Any Challenges/ Issues faced</a:t>
            </a:r>
          </a:p>
        </p:txBody>
      </p:sp>
      <p:sp>
        <p:nvSpPr>
          <p:cNvPr id="113" name="TextBox 43"/>
          <p:cNvSpPr txBox="1"/>
          <p:nvPr/>
        </p:nvSpPr>
        <p:spPr>
          <a:xfrm>
            <a:off x="10085830" y="6487914"/>
            <a:ext cx="2060450" cy="370839"/>
          </a:xfrm>
          <a:prstGeom prst="rect">
            <a:avLst/>
          </a:prstGeom>
          <a:ln w="12700">
            <a:miter lim="400000"/>
          </a:ln>
        </p:spPr>
        <p:txBody>
          <a:bodyPr lIns="45718" tIns="45718" rIns="45718" bIns="45718" anchor="ctr">
            <a:spAutoFit/>
          </a:bodyPr>
          <a:lstStyle>
            <a:lvl1pPr>
              <a:defRPr>
                <a:latin typeface="SamsungOne 600C"/>
                <a:ea typeface="SamsungOne 600C"/>
                <a:cs typeface="SamsungOne 600C"/>
                <a:sym typeface="SamsungOne 600C"/>
              </a:defRPr>
            </a:lvl1pPr>
          </a:lstStyle>
          <a:p>
            <a:r>
              <a:rPr dirty="0"/>
              <a:t>Date: </a:t>
            </a:r>
            <a:r>
              <a:rPr lang="en-US" dirty="0"/>
              <a:t>20</a:t>
            </a:r>
            <a:r>
              <a:rPr dirty="0"/>
              <a:t>/</a:t>
            </a:r>
            <a:r>
              <a:rPr lang="en-US" dirty="0"/>
              <a:t>01/</a:t>
            </a:r>
            <a:r>
              <a:rPr dirty="0"/>
              <a:t>202</a:t>
            </a:r>
            <a:r>
              <a:rPr lang="en-US" dirty="0"/>
              <a:t>6</a:t>
            </a:r>
            <a:endParaRPr dirty="0"/>
          </a:p>
        </p:txBody>
      </p:sp>
      <p:sp>
        <p:nvSpPr>
          <p:cNvPr id="114" name="TextBox 1"/>
          <p:cNvSpPr txBox="1"/>
          <p:nvPr/>
        </p:nvSpPr>
        <p:spPr>
          <a:xfrm>
            <a:off x="369877" y="2497967"/>
            <a:ext cx="5495764" cy="1169547"/>
          </a:xfrm>
          <a:prstGeom prst="rect">
            <a:avLst/>
          </a:prstGeom>
          <a:ln w="12700">
            <a:miter lim="400000"/>
          </a:ln>
        </p:spPr>
        <p:txBody>
          <a:bodyPr lIns="45718" tIns="45718" rIns="45718" bIns="45718">
            <a:spAutoFit/>
          </a:bodyPr>
          <a:lstStyle/>
          <a:p>
            <a:pPr marL="285750" indent="-285750">
              <a:buFont typeface="Arial" panose="020B0604020202020204" pitchFamily="34" charset="0"/>
              <a:buChar char="•"/>
            </a:pPr>
            <a:r>
              <a:rPr lang="en-US" sz="1400" dirty="0"/>
              <a:t>100% preprocessing pipeline complete</a:t>
            </a:r>
          </a:p>
          <a:p>
            <a:pPr marL="285750" indent="-285750">
              <a:buFont typeface="Arial" panose="020B0604020202020204" pitchFamily="34" charset="0"/>
              <a:buChar char="•"/>
            </a:pPr>
            <a:r>
              <a:rPr lang="en-US" sz="1400" dirty="0"/>
              <a:t>Multimodal coverage achieved</a:t>
            </a:r>
          </a:p>
          <a:p>
            <a:pPr marL="285750" indent="-285750">
              <a:buFont typeface="Arial" panose="020B0604020202020204" pitchFamily="34" charset="0"/>
              <a:buChar char="•"/>
            </a:pPr>
            <a:r>
              <a:rPr lang="en-US" sz="1400" dirty="0"/>
              <a:t>Cross-attention model implemented</a:t>
            </a:r>
          </a:p>
          <a:p>
            <a:pPr marL="285750" indent="-285750">
              <a:buFont typeface="Arial" panose="020B0604020202020204" pitchFamily="34" charset="0"/>
              <a:buChar char="•"/>
            </a:pPr>
            <a:r>
              <a:rPr lang="en-US" sz="1400" dirty="0"/>
              <a:t>Training stabilized after data cleaning</a:t>
            </a:r>
          </a:p>
          <a:p>
            <a:pPr marL="285750" indent="-285750">
              <a:buFont typeface="Arial" panose="020B0604020202020204" pitchFamily="34" charset="0"/>
              <a:buChar char="•"/>
            </a:pPr>
            <a:r>
              <a:rPr lang="en-US" sz="1400" dirty="0"/>
              <a:t>Model predictions saved for post-processing</a:t>
            </a:r>
          </a:p>
        </p:txBody>
      </p:sp>
      <p:sp>
        <p:nvSpPr>
          <p:cNvPr id="4" name="Rectangle 33"/>
          <p:cNvSpPr/>
          <p:nvPr/>
        </p:nvSpPr>
        <p:spPr>
          <a:xfrm>
            <a:off x="167260" y="4036213"/>
            <a:ext cx="5867781" cy="1175867"/>
          </a:xfrm>
          <a:prstGeom prst="rect">
            <a:avLst/>
          </a:prstGeom>
          <a:solidFill>
            <a:srgbClr val="D9D9D9"/>
          </a:solidFill>
          <a:ln w="12700">
            <a:miter lim="400000"/>
          </a:ln>
          <a:effectLst>
            <a:outerShdw blurRad="50800" dist="38100" dir="8100000" rotWithShape="0">
              <a:srgbClr val="000000">
                <a:alpha val="40000"/>
              </a:srgbClr>
            </a:outerShdw>
          </a:effectLst>
        </p:spPr>
        <p:txBody>
          <a:bodyPr lIns="45718" tIns="45718" rIns="45718" bIns="45718" anchor="ctr"/>
          <a:lstStyle/>
          <a:p>
            <a:pPr>
              <a:defRPr sz="1200">
                <a:latin typeface="Arial" panose="020B0604020202090204"/>
                <a:ea typeface="Arial" panose="020B0604020202090204"/>
                <a:cs typeface="Arial" panose="020B0604020202090204"/>
                <a:sym typeface="Arial" panose="020B0604020202090204"/>
              </a:defRPr>
            </a:pPr>
            <a:endParaRPr dirty="0"/>
          </a:p>
        </p:txBody>
      </p:sp>
      <p:sp>
        <p:nvSpPr>
          <p:cNvPr id="5" name="Rectangle 38"/>
          <p:cNvSpPr txBox="1"/>
          <p:nvPr/>
        </p:nvSpPr>
        <p:spPr>
          <a:xfrm>
            <a:off x="369877" y="4035396"/>
            <a:ext cx="3862592" cy="369328"/>
          </a:xfrm>
          <a:prstGeom prst="rect">
            <a:avLst/>
          </a:prstGeom>
          <a:ln w="12700">
            <a:miter lim="400000"/>
          </a:ln>
        </p:spPr>
        <p:txBody>
          <a:bodyPr wrap="none" lIns="45718" tIns="45718" rIns="45718" bIns="45718">
            <a:spAutoFit/>
          </a:bodyPr>
          <a:lstStyle/>
          <a:p>
            <a:pPr>
              <a:defRPr b="1">
                <a:solidFill>
                  <a:srgbClr val="0E4094"/>
                </a:solidFill>
                <a:latin typeface="SamsungOne 600C"/>
                <a:ea typeface="SamsungOne 600C"/>
                <a:cs typeface="SamsungOne 600C"/>
                <a:sym typeface="SamsungOne 600C"/>
              </a:defRPr>
            </a:pPr>
            <a:r>
              <a:rPr lang="en-US" b="1" dirty="0">
                <a:sym typeface="SamsungOne 600C"/>
              </a:rPr>
              <a:t>Key Achievements / Outcomes Till Now</a:t>
            </a:r>
            <a:endParaRPr dirty="0"/>
          </a:p>
        </p:txBody>
      </p:sp>
      <p:sp>
        <p:nvSpPr>
          <p:cNvPr id="6" name="TextBox 1">
            <a:extLst>
              <a:ext uri="{FF2B5EF4-FFF2-40B4-BE49-F238E27FC236}">
                <a16:creationId xmlns:a16="http://schemas.microsoft.com/office/drawing/2014/main" id="{A4F1C8D2-780B-F832-F3D5-636EE6FFE73C}"/>
              </a:ext>
            </a:extLst>
          </p:cNvPr>
          <p:cNvSpPr txBox="1"/>
          <p:nvPr/>
        </p:nvSpPr>
        <p:spPr>
          <a:xfrm>
            <a:off x="343576" y="4404724"/>
            <a:ext cx="5495764" cy="523216"/>
          </a:xfrm>
          <a:prstGeom prst="rect">
            <a:avLst/>
          </a:prstGeom>
          <a:ln w="12700">
            <a:miter lim="400000"/>
          </a:ln>
        </p:spPr>
        <p:txBody>
          <a:bodyPr lIns="45718" tIns="45718" rIns="45718" bIns="45718">
            <a:spAutoFit/>
          </a:bodyPr>
          <a:lstStyle/>
          <a:p>
            <a:pPr marL="285750" indent="-285750">
              <a:buFont typeface="Arial" panose="020B0604020202020204" pitchFamily="34" charset="0"/>
              <a:buChar char="•"/>
            </a:pPr>
            <a:r>
              <a:rPr lang="en-US" sz="1400" dirty="0"/>
              <a:t>MILESTONE 1 COMPLETED</a:t>
            </a:r>
          </a:p>
          <a:p>
            <a:pPr marL="285750" indent="-285750">
              <a:buFont typeface="Arial" panose="020B0604020202020204" pitchFamily="34" charset="0"/>
              <a:buChar char="•"/>
            </a:pPr>
            <a:r>
              <a:rPr lang="en-US" sz="1400" dirty="0"/>
              <a:t>MILESTONE 2 COMPLETED</a:t>
            </a:r>
          </a:p>
        </p:txBody>
      </p:sp>
      <p:grpSp>
        <p:nvGrpSpPr>
          <p:cNvPr id="11" name="Rectangle 41">
            <a:extLst>
              <a:ext uri="{FF2B5EF4-FFF2-40B4-BE49-F238E27FC236}">
                <a16:creationId xmlns:a16="http://schemas.microsoft.com/office/drawing/2014/main" id="{F69D0B25-A972-1B69-FB99-31B3B82A0AAC}"/>
              </a:ext>
            </a:extLst>
          </p:cNvPr>
          <p:cNvGrpSpPr/>
          <p:nvPr/>
        </p:nvGrpSpPr>
        <p:grpSpPr>
          <a:xfrm>
            <a:off x="6133544" y="4035396"/>
            <a:ext cx="5867783" cy="1175867"/>
            <a:chOff x="-1" y="0"/>
            <a:chExt cx="5867782" cy="1684532"/>
          </a:xfrm>
        </p:grpSpPr>
        <p:sp>
          <p:nvSpPr>
            <p:cNvPr id="12" name="Rectangle">
              <a:extLst>
                <a:ext uri="{FF2B5EF4-FFF2-40B4-BE49-F238E27FC236}">
                  <a16:creationId xmlns:a16="http://schemas.microsoft.com/office/drawing/2014/main" id="{BAA0B2F6-640F-2F1D-C9A3-05A844EAE92D}"/>
                </a:ext>
              </a:extLst>
            </p:cNvPr>
            <p:cNvSpPr/>
            <p:nvPr/>
          </p:nvSpPr>
          <p:spPr>
            <a:xfrm>
              <a:off x="-1" y="0"/>
              <a:ext cx="5867782" cy="1684532"/>
            </a:xfrm>
            <a:prstGeom prst="rect">
              <a:avLst/>
            </a:prstGeom>
            <a:solidFill>
              <a:srgbClr val="D9D9D9"/>
            </a:solidFill>
            <a:ln w="12700" cap="flat">
              <a:noFill/>
              <a:miter lim="400000"/>
            </a:ln>
            <a:effectLst>
              <a:outerShdw blurRad="50800" dist="38100" dir="8100000" rotWithShape="0">
                <a:srgbClr val="000000">
                  <a:alpha val="40000"/>
                </a:srgbClr>
              </a:outerShdw>
            </a:effectLst>
          </p:spPr>
          <p:txBody>
            <a:bodyPr wrap="square" lIns="45718" tIns="45718" rIns="45718" bIns="45718" numCol="1" anchor="ctr">
              <a:noAutofit/>
            </a:bodyPr>
            <a:lstStyle/>
            <a:p>
              <a:pPr>
                <a:defRPr>
                  <a:solidFill>
                    <a:srgbClr val="FFFFFF"/>
                  </a:solidFill>
                </a:defRPr>
              </a:pPr>
              <a:endParaRPr dirty="0"/>
            </a:p>
          </p:txBody>
        </p:sp>
        <p:sp>
          <p:nvSpPr>
            <p:cNvPr id="13" name="Insufficient computational resources on both Google Colab and personal laptops.…">
              <a:extLst>
                <a:ext uri="{FF2B5EF4-FFF2-40B4-BE49-F238E27FC236}">
                  <a16:creationId xmlns:a16="http://schemas.microsoft.com/office/drawing/2014/main" id="{E0052070-6FE4-60FD-A495-50705B75BA87}"/>
                </a:ext>
              </a:extLst>
            </p:cNvPr>
            <p:cNvSpPr txBox="1"/>
            <p:nvPr/>
          </p:nvSpPr>
          <p:spPr>
            <a:xfrm>
              <a:off x="116628" y="581481"/>
              <a:ext cx="5590335" cy="749553"/>
            </a:xfrm>
            <a:prstGeom prst="rect">
              <a:avLst/>
            </a:prstGeom>
            <a:noFill/>
            <a:ln w="12700" cap="flat">
              <a:noFill/>
              <a:miter lim="400000"/>
            </a:ln>
            <a:effectLst/>
          </p:spPr>
          <p:txBody>
            <a:bodyPr wrap="square" lIns="45718" tIns="45718" rIns="45718" bIns="45718" numCol="1" anchor="ctr">
              <a:spAutoFit/>
            </a:bodyPr>
            <a:lstStyle/>
            <a:p>
              <a:pPr marL="342900" indent="-342900">
                <a:buAutoNum type="arabicPeriod"/>
              </a:pPr>
              <a:r>
                <a:rPr lang="en-US" sz="1400" dirty="0"/>
                <a:t>Shifting the encoder from clip to </a:t>
              </a:r>
              <a:r>
                <a:rPr lang="en-US" sz="1400" dirty="0" err="1"/>
                <a:t>siglip</a:t>
              </a:r>
              <a:r>
                <a:rPr lang="en-US" sz="1400" dirty="0"/>
                <a:t>(</a:t>
              </a:r>
              <a:r>
                <a:rPr lang="en-US" sz="1400" dirty="0" err="1"/>
                <a:t>google’s</a:t>
              </a:r>
              <a:r>
                <a:rPr lang="en-US" sz="1400" dirty="0"/>
                <a:t> new </a:t>
              </a:r>
              <a:r>
                <a:rPr lang="en-US" sz="1400" dirty="0" err="1"/>
                <a:t>vl</a:t>
              </a:r>
              <a:r>
                <a:rPr lang="en-US" sz="1400" dirty="0"/>
                <a:t> encoder)</a:t>
              </a:r>
            </a:p>
            <a:p>
              <a:pPr marL="342900" indent="-342900">
                <a:buAutoNum type="arabicPeriod"/>
              </a:pPr>
              <a:r>
                <a:rPr lang="en-US" sz="1400" dirty="0"/>
                <a:t>Milestone 3 – wrapping the architecture into an </a:t>
              </a:r>
              <a:r>
                <a:rPr lang="en-US" sz="1400" dirty="0" err="1"/>
                <a:t>api</a:t>
              </a:r>
              <a:endParaRPr lang="en-US" sz="1400" dirty="0"/>
            </a:p>
          </p:txBody>
        </p:sp>
      </p:grpSp>
      <p:sp>
        <p:nvSpPr>
          <p:cNvPr id="14" name="Rectangle 42">
            <a:extLst>
              <a:ext uri="{FF2B5EF4-FFF2-40B4-BE49-F238E27FC236}">
                <a16:creationId xmlns:a16="http://schemas.microsoft.com/office/drawing/2014/main" id="{19963917-018A-3F71-4D58-284CCA1259E3}"/>
              </a:ext>
            </a:extLst>
          </p:cNvPr>
          <p:cNvSpPr txBox="1"/>
          <p:nvPr/>
        </p:nvSpPr>
        <p:spPr>
          <a:xfrm>
            <a:off x="6244101" y="4053680"/>
            <a:ext cx="1118251" cy="369328"/>
          </a:xfrm>
          <a:prstGeom prst="rect">
            <a:avLst/>
          </a:prstGeom>
          <a:ln w="12700">
            <a:miter lim="400000"/>
          </a:ln>
        </p:spPr>
        <p:txBody>
          <a:bodyPr wrap="none" lIns="45718" tIns="45718" rIns="45718" bIns="45718">
            <a:spAutoFit/>
          </a:bodyPr>
          <a:lstStyle>
            <a:lvl1pPr>
              <a:defRPr b="1">
                <a:solidFill>
                  <a:srgbClr val="0E4094"/>
                </a:solidFill>
                <a:latin typeface="SamsungOne 600C"/>
                <a:ea typeface="SamsungOne 600C"/>
                <a:cs typeface="SamsungOne 600C"/>
                <a:sym typeface="SamsungOne 600C"/>
              </a:defRPr>
            </a:lvl1pPr>
          </a:lstStyle>
          <a:p>
            <a:r>
              <a:rPr lang="en-US" dirty="0"/>
              <a:t>Next Steps</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7"/>
          <p:cNvSpPr/>
          <p:nvPr/>
        </p:nvSpPr>
        <p:spPr>
          <a:xfrm>
            <a:off x="167259" y="700410"/>
            <a:ext cx="11840511" cy="924142"/>
          </a:xfrm>
          <a:prstGeom prst="rect">
            <a:avLst/>
          </a:prstGeom>
          <a:solidFill>
            <a:srgbClr val="404040"/>
          </a:solidFill>
          <a:ln w="12700">
            <a:miter lim="400000"/>
          </a:ln>
          <a:effectLst>
            <a:outerShdw blurRad="50800" dist="38100" dir="8100000" rotWithShape="0">
              <a:srgbClr val="000000">
                <a:alpha val="40000"/>
              </a:srgbClr>
            </a:outerShdw>
          </a:effectLst>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117" name="Rectangle 10"/>
          <p:cNvSpPr/>
          <p:nvPr/>
        </p:nvSpPr>
        <p:spPr>
          <a:xfrm>
            <a:off x="1" y="105044"/>
            <a:ext cx="169332" cy="482533"/>
          </a:xfrm>
          <a:prstGeom prst="rect">
            <a:avLst/>
          </a:prstGeom>
          <a:solidFill>
            <a:srgbClr val="0E4094"/>
          </a:solidFill>
          <a:ln w="12700">
            <a:miter lim="400000"/>
          </a:ln>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118" name="Rectangle 13"/>
          <p:cNvSpPr/>
          <p:nvPr/>
        </p:nvSpPr>
        <p:spPr>
          <a:xfrm>
            <a:off x="237965" y="105044"/>
            <a:ext cx="75302" cy="482533"/>
          </a:xfrm>
          <a:prstGeom prst="rect">
            <a:avLst/>
          </a:prstGeom>
          <a:solidFill>
            <a:srgbClr val="BFBFBF"/>
          </a:solidFill>
          <a:ln w="12700">
            <a:miter lim="400000"/>
          </a:ln>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119" name="Rectangle 24"/>
          <p:cNvSpPr txBox="1"/>
          <p:nvPr/>
        </p:nvSpPr>
        <p:spPr>
          <a:xfrm>
            <a:off x="218877" y="715653"/>
            <a:ext cx="1751555" cy="370839"/>
          </a:xfrm>
          <a:prstGeom prst="rect">
            <a:avLst/>
          </a:prstGeom>
          <a:ln w="12700">
            <a:miter lim="400000"/>
          </a:ln>
        </p:spPr>
        <p:txBody>
          <a:bodyPr wrap="none" lIns="45718" tIns="45718" rIns="45718" bIns="45718">
            <a:spAutoFit/>
          </a:bodyPr>
          <a:lstStyle>
            <a:lvl1pPr>
              <a:defRPr b="1">
                <a:solidFill>
                  <a:schemeClr val="accent6"/>
                </a:solidFill>
                <a:latin typeface="SamsungOne 600C"/>
                <a:ea typeface="SamsungOne 600C"/>
                <a:cs typeface="SamsungOne 600C"/>
                <a:sym typeface="SamsungOne 600C"/>
              </a:defRPr>
            </a:lvl1pPr>
          </a:lstStyle>
          <a:p>
            <a:r>
              <a:t>Worklet Details</a:t>
            </a:r>
          </a:p>
        </p:txBody>
      </p:sp>
      <p:sp>
        <p:nvSpPr>
          <p:cNvPr id="120" name="Rectangle 25"/>
          <p:cNvSpPr txBox="1"/>
          <p:nvPr/>
        </p:nvSpPr>
        <p:spPr>
          <a:xfrm>
            <a:off x="329182" y="1109868"/>
            <a:ext cx="4075757" cy="497839"/>
          </a:xfrm>
          <a:prstGeom prst="rect">
            <a:avLst/>
          </a:prstGeom>
          <a:ln w="12700">
            <a:miter lim="400000"/>
          </a:ln>
        </p:spPr>
        <p:txBody>
          <a:bodyPr lIns="45718" tIns="45718" rIns="45718" bIns="45718">
            <a:spAutoFit/>
          </a:bodyPr>
          <a:lstStyle/>
          <a:p>
            <a:pPr marL="228600" indent="-228600">
              <a:buSzPct val="100000"/>
              <a:buAutoNum type="arabicPeriod"/>
              <a:defRPr sz="1200">
                <a:solidFill>
                  <a:srgbClr val="FFFFFF"/>
                </a:solidFill>
                <a:latin typeface="SamsungOne 600C"/>
                <a:ea typeface="SamsungOne 600C"/>
                <a:cs typeface="SamsungOne 600C"/>
                <a:sym typeface="SamsungOne 600C"/>
              </a:defRPr>
            </a:pPr>
            <a:r>
              <a:t>Worklet ID: </a:t>
            </a:r>
            <a:r>
              <a:rPr sz="1400" b="1">
                <a:latin typeface="+mn-lt"/>
                <a:ea typeface="+mn-ea"/>
                <a:cs typeface="+mn-cs"/>
                <a:sym typeface="Calibri"/>
              </a:rPr>
              <a:t>25SPF15</a:t>
            </a:r>
            <a:endParaRPr sz="1400"/>
          </a:p>
          <a:p>
            <a:pPr marL="228600" indent="-228600">
              <a:buSzPct val="100000"/>
              <a:buAutoNum type="arabicPeriod"/>
              <a:defRPr sz="1200">
                <a:solidFill>
                  <a:srgbClr val="FFFFFF"/>
                </a:solidFill>
                <a:latin typeface="SamsungOne 600C"/>
                <a:ea typeface="SamsungOne 600C"/>
                <a:cs typeface="SamsungOne 600C"/>
                <a:sym typeface="SamsungOne 600C"/>
              </a:defRPr>
            </a:pPr>
            <a:r>
              <a:t>College Name: Vellore Institute Of Technology, Vellore</a:t>
            </a:r>
          </a:p>
        </p:txBody>
      </p:sp>
      <p:pic>
        <p:nvPicPr>
          <p:cNvPr id="121" name="Picture 32" descr="Picture 32"/>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sp>
        <p:nvSpPr>
          <p:cNvPr id="122" name="Rectangle 26"/>
          <p:cNvSpPr/>
          <p:nvPr/>
        </p:nvSpPr>
        <p:spPr>
          <a:xfrm>
            <a:off x="167260" y="4195157"/>
            <a:ext cx="5867782" cy="1813442"/>
          </a:xfrm>
          <a:prstGeom prst="rect">
            <a:avLst/>
          </a:prstGeom>
          <a:solidFill>
            <a:srgbClr val="D9D9D9"/>
          </a:solidFill>
          <a:ln w="12700">
            <a:miter lim="400000"/>
          </a:ln>
          <a:effectLst>
            <a:outerShdw blurRad="50800" dist="38100" dir="8100000" rotWithShape="0">
              <a:srgbClr val="000000">
                <a:alpha val="40000"/>
              </a:srgbClr>
            </a:outerShdw>
          </a:effectLst>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123" name="Rectangle 33"/>
          <p:cNvSpPr/>
          <p:nvPr/>
        </p:nvSpPr>
        <p:spPr>
          <a:xfrm>
            <a:off x="167260" y="2037121"/>
            <a:ext cx="5867781" cy="1986592"/>
          </a:xfrm>
          <a:prstGeom prst="rect">
            <a:avLst/>
          </a:prstGeom>
          <a:solidFill>
            <a:srgbClr val="D9D9D9"/>
          </a:solidFill>
          <a:ln w="12700">
            <a:miter lim="400000"/>
          </a:ln>
          <a:effectLst>
            <a:outerShdw blurRad="50800" dist="38100" dir="8100000" rotWithShape="0">
              <a:srgbClr val="000000">
                <a:alpha val="40000"/>
              </a:srgbClr>
            </a:outerShdw>
          </a:effectLst>
        </p:spPr>
        <p:txBody>
          <a:bodyPr lIns="45718" tIns="45718" rIns="45718" bIns="45718" anchor="ctr"/>
          <a:lstStyle/>
          <a:p>
            <a:pPr>
              <a:defRPr sz="1200" b="1">
                <a:solidFill>
                  <a:srgbClr val="0E4094"/>
                </a:solidFill>
                <a:latin typeface="SamsungOne 600C"/>
                <a:ea typeface="SamsungOne 600C"/>
                <a:cs typeface="SamsungOne 600C"/>
                <a:sym typeface="SamsungOne 600C"/>
              </a:defRPr>
            </a:pPr>
            <a:endParaRPr/>
          </a:p>
        </p:txBody>
      </p:sp>
      <p:sp>
        <p:nvSpPr>
          <p:cNvPr id="124" name="Rectangle 36"/>
          <p:cNvSpPr txBox="1"/>
          <p:nvPr/>
        </p:nvSpPr>
        <p:spPr>
          <a:xfrm>
            <a:off x="212980" y="4262104"/>
            <a:ext cx="5776342" cy="828039"/>
          </a:xfrm>
          <a:prstGeom prst="rect">
            <a:avLst/>
          </a:prstGeom>
          <a:ln w="12700">
            <a:miter lim="400000"/>
          </a:ln>
        </p:spPr>
        <p:txBody>
          <a:bodyPr lIns="45718" tIns="45718" rIns="45718" bIns="45718">
            <a:spAutoFit/>
          </a:bodyPr>
          <a:lstStyle/>
          <a:p>
            <a:pPr>
              <a:defRPr b="1">
                <a:solidFill>
                  <a:srgbClr val="0E4094"/>
                </a:solidFill>
                <a:latin typeface="SamsungOne 600C"/>
                <a:ea typeface="SamsungOne 600C"/>
                <a:cs typeface="SamsungOne 600C"/>
                <a:sym typeface="SamsungOne 600C"/>
              </a:defRPr>
            </a:pPr>
            <a:r>
              <a:t>Any Anticipated Break (Due to exams etc)</a:t>
            </a:r>
          </a:p>
          <a:p>
            <a:pPr>
              <a:defRPr sz="1400" b="1">
                <a:solidFill>
                  <a:srgbClr val="0E4094"/>
                </a:solidFill>
                <a:latin typeface="SamsungOne 600C"/>
                <a:ea typeface="SamsungOne 600C"/>
                <a:cs typeface="SamsungOne 600C"/>
                <a:sym typeface="SamsungOne 600C"/>
              </a:defRPr>
            </a:pPr>
            <a:br/>
            <a:r>
              <a:rPr sz="1600">
                <a:solidFill>
                  <a:srgbClr val="000000"/>
                </a:solidFill>
              </a:rPr>
              <a:t>N.A</a:t>
            </a:r>
          </a:p>
        </p:txBody>
      </p:sp>
      <p:sp>
        <p:nvSpPr>
          <p:cNvPr id="125" name="Rectangle 38"/>
          <p:cNvSpPr txBox="1"/>
          <p:nvPr/>
        </p:nvSpPr>
        <p:spPr>
          <a:xfrm>
            <a:off x="311486" y="2110196"/>
            <a:ext cx="4969033" cy="370839"/>
          </a:xfrm>
          <a:prstGeom prst="rect">
            <a:avLst/>
          </a:prstGeom>
          <a:ln w="12700">
            <a:miter lim="400000"/>
          </a:ln>
        </p:spPr>
        <p:txBody>
          <a:bodyPr wrap="none" lIns="45718" tIns="45718" rIns="45718" bIns="45718">
            <a:spAutoFit/>
          </a:bodyPr>
          <a:lstStyle>
            <a:lvl1pPr>
              <a:defRPr b="1">
                <a:solidFill>
                  <a:srgbClr val="0E4094"/>
                </a:solidFill>
                <a:latin typeface="SamsungOne 600C"/>
                <a:ea typeface="SamsungOne 600C"/>
                <a:cs typeface="SamsungOne 600C"/>
                <a:sym typeface="SamsungOne 600C"/>
              </a:defRPr>
            </a:lvl1pPr>
          </a:lstStyle>
          <a:p>
            <a:r>
              <a:t>Resource Requirement Identified with Status</a:t>
            </a:r>
          </a:p>
        </p:txBody>
      </p:sp>
      <p:sp>
        <p:nvSpPr>
          <p:cNvPr id="126" name="Rectangle 39"/>
          <p:cNvSpPr/>
          <p:nvPr/>
        </p:nvSpPr>
        <p:spPr>
          <a:xfrm>
            <a:off x="6139989" y="4205096"/>
            <a:ext cx="5867782" cy="1798453"/>
          </a:xfrm>
          <a:prstGeom prst="rect">
            <a:avLst/>
          </a:prstGeom>
          <a:solidFill>
            <a:srgbClr val="D9D9D9"/>
          </a:solidFill>
          <a:ln w="12700">
            <a:miter lim="400000"/>
          </a:ln>
          <a:effectLst>
            <a:outerShdw blurRad="50800" dist="38100" dir="8100000" rotWithShape="0">
              <a:srgbClr val="000000">
                <a:alpha val="40000"/>
              </a:srgbClr>
            </a:outerShdw>
          </a:effectLst>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127" name="Rectangle 40"/>
          <p:cNvSpPr txBox="1"/>
          <p:nvPr/>
        </p:nvSpPr>
        <p:spPr>
          <a:xfrm>
            <a:off x="6185711" y="4277046"/>
            <a:ext cx="3088775" cy="370839"/>
          </a:xfrm>
          <a:prstGeom prst="rect">
            <a:avLst/>
          </a:prstGeom>
          <a:ln w="12700">
            <a:miter lim="400000"/>
          </a:ln>
        </p:spPr>
        <p:txBody>
          <a:bodyPr wrap="none" lIns="45718" tIns="45718" rIns="45718" bIns="45718">
            <a:spAutoFit/>
          </a:bodyPr>
          <a:lstStyle>
            <a:lvl1pPr>
              <a:defRPr b="1">
                <a:solidFill>
                  <a:srgbClr val="0E4094"/>
                </a:solidFill>
                <a:latin typeface="SamsungOne 600C"/>
                <a:ea typeface="SamsungOne 600C"/>
                <a:cs typeface="SamsungOne 600C"/>
                <a:sym typeface="SamsungOne 600C"/>
              </a:defRPr>
            </a:lvl1pPr>
          </a:lstStyle>
          <a:p>
            <a:r>
              <a:t>Data Collection Information</a:t>
            </a:r>
          </a:p>
        </p:txBody>
      </p:sp>
      <p:sp>
        <p:nvSpPr>
          <p:cNvPr id="128" name="Rectangle 41"/>
          <p:cNvSpPr/>
          <p:nvPr/>
        </p:nvSpPr>
        <p:spPr>
          <a:xfrm>
            <a:off x="6181042" y="2037121"/>
            <a:ext cx="5867782" cy="1986592"/>
          </a:xfrm>
          <a:prstGeom prst="rect">
            <a:avLst/>
          </a:prstGeom>
          <a:solidFill>
            <a:srgbClr val="D9D9D9"/>
          </a:solidFill>
          <a:ln w="12700">
            <a:miter lim="400000"/>
          </a:ln>
          <a:effectLst>
            <a:outerShdw blurRad="50800" dist="38100" dir="8100000" rotWithShape="0">
              <a:srgbClr val="000000">
                <a:alpha val="40000"/>
              </a:srgbClr>
            </a:outerShdw>
          </a:effectLst>
        </p:spPr>
        <p:txBody>
          <a:bodyPr lIns="45718" tIns="45718" rIns="45718" bIns="45718" anchor="ctr"/>
          <a:lstStyle/>
          <a:p>
            <a:pPr>
              <a:defRPr sz="1200" b="1">
                <a:solidFill>
                  <a:srgbClr val="0E4094"/>
                </a:solidFill>
                <a:latin typeface="SamsungOne 600C"/>
                <a:ea typeface="SamsungOne 600C"/>
                <a:cs typeface="SamsungOne 600C"/>
                <a:sym typeface="SamsungOne 600C"/>
              </a:defRPr>
            </a:pPr>
            <a:endParaRPr/>
          </a:p>
        </p:txBody>
      </p:sp>
      <p:sp>
        <p:nvSpPr>
          <p:cNvPr id="129" name="Rectangle 42"/>
          <p:cNvSpPr txBox="1"/>
          <p:nvPr/>
        </p:nvSpPr>
        <p:spPr>
          <a:xfrm>
            <a:off x="6185711" y="2116291"/>
            <a:ext cx="6759546" cy="370839"/>
          </a:xfrm>
          <a:prstGeom prst="rect">
            <a:avLst/>
          </a:prstGeom>
          <a:ln w="12700">
            <a:miter lim="400000"/>
          </a:ln>
        </p:spPr>
        <p:txBody>
          <a:bodyPr wrap="none" lIns="45718" tIns="45718" rIns="45718" bIns="45718">
            <a:spAutoFit/>
          </a:bodyPr>
          <a:lstStyle>
            <a:lvl1pPr>
              <a:defRPr b="1">
                <a:solidFill>
                  <a:srgbClr val="0E4094"/>
                </a:solidFill>
                <a:latin typeface="SamsungOne 600C"/>
                <a:ea typeface="SamsungOne 600C"/>
                <a:cs typeface="SamsungOne 600C"/>
                <a:sym typeface="SamsungOne 600C"/>
              </a:defRPr>
            </a:lvl1pPr>
          </a:lstStyle>
          <a:p>
            <a:r>
              <a:t>Github Repository Link and PRISM Portal Registration Status</a:t>
            </a:r>
          </a:p>
        </p:txBody>
      </p:sp>
      <p:sp>
        <p:nvSpPr>
          <p:cNvPr id="130" name="TextBox 1"/>
          <p:cNvSpPr txBox="1"/>
          <p:nvPr/>
        </p:nvSpPr>
        <p:spPr>
          <a:xfrm>
            <a:off x="358985" y="189402"/>
            <a:ext cx="9931905" cy="396239"/>
          </a:xfrm>
          <a:prstGeom prst="rect">
            <a:avLst/>
          </a:prstGeom>
          <a:ln w="12700">
            <a:miter lim="400000"/>
          </a:ln>
        </p:spPr>
        <p:txBody>
          <a:bodyPr lIns="45718" tIns="45718" rIns="45718" bIns="45718" anchor="ctr">
            <a:spAutoFit/>
          </a:bodyPr>
          <a:lstStyle>
            <a:lvl1pPr>
              <a:defRPr sz="2000">
                <a:latin typeface="SamsungOne 600C"/>
                <a:ea typeface="SamsungOne 600C"/>
                <a:cs typeface="SamsungOne 600C"/>
                <a:sym typeface="SamsungOne 600C"/>
              </a:defRPr>
            </a:lvl1pPr>
          </a:lstStyle>
          <a:p>
            <a:r>
              <a:t>Work-let Name: Multimodal AI-Driven Contextual Story Title Generation</a:t>
            </a:r>
          </a:p>
        </p:txBody>
      </p:sp>
      <p:sp>
        <p:nvSpPr>
          <p:cNvPr id="131" name="TextBox 3"/>
          <p:cNvSpPr txBox="1"/>
          <p:nvPr/>
        </p:nvSpPr>
        <p:spPr>
          <a:xfrm>
            <a:off x="10085830" y="6487914"/>
            <a:ext cx="2060450" cy="370839"/>
          </a:xfrm>
          <a:prstGeom prst="rect">
            <a:avLst/>
          </a:prstGeom>
          <a:ln w="12700">
            <a:miter lim="400000"/>
          </a:ln>
        </p:spPr>
        <p:txBody>
          <a:bodyPr lIns="45718" tIns="45718" rIns="45718" bIns="45718" anchor="ctr">
            <a:spAutoFit/>
          </a:bodyPr>
          <a:lstStyle>
            <a:lvl1pPr>
              <a:defRPr>
                <a:latin typeface="SamsungOne 600C"/>
                <a:ea typeface="SamsungOne 600C"/>
                <a:cs typeface="SamsungOne 600C"/>
                <a:sym typeface="SamsungOne 600C"/>
              </a:defRPr>
            </a:lvl1pPr>
          </a:lstStyle>
          <a:p>
            <a:r>
              <a:rPr dirty="0"/>
              <a:t>Date: 1</a:t>
            </a:r>
            <a:r>
              <a:rPr lang="en-US" dirty="0"/>
              <a:t>6/12</a:t>
            </a:r>
            <a:r>
              <a:rPr dirty="0"/>
              <a:t>/2025</a:t>
            </a:r>
          </a:p>
        </p:txBody>
      </p:sp>
      <p:sp>
        <p:nvSpPr>
          <p:cNvPr id="132" name="TextBox 2"/>
          <p:cNvSpPr txBox="1"/>
          <p:nvPr/>
        </p:nvSpPr>
        <p:spPr>
          <a:xfrm>
            <a:off x="358985" y="2562044"/>
            <a:ext cx="5435379" cy="695223"/>
          </a:xfrm>
          <a:prstGeom prst="rect">
            <a:avLst/>
          </a:prstGeom>
          <a:ln w="12700">
            <a:miter lim="400000"/>
          </a:ln>
        </p:spPr>
        <p:txBody>
          <a:bodyPr lIns="45718" tIns="45718" rIns="45718" bIns="45718">
            <a:spAutoFit/>
          </a:bodyPr>
          <a:lstStyle/>
          <a:p>
            <a:pPr marL="285750" indent="-2857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r>
              <a:t>System with Nvidia T4/A100/A4000 GPU</a:t>
            </a:r>
          </a:p>
          <a:p>
            <a:pPr marL="285750" indent="-2857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r>
              <a:t>Atleast 64GB RAM</a:t>
            </a:r>
          </a:p>
          <a:p>
            <a:pPr marL="285750" indent="-2857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r>
              <a:t>Fast Storage</a:t>
            </a:r>
          </a:p>
        </p:txBody>
      </p:sp>
      <p:sp>
        <p:nvSpPr>
          <p:cNvPr id="133" name="TextBox 5"/>
          <p:cNvSpPr txBox="1"/>
          <p:nvPr/>
        </p:nvSpPr>
        <p:spPr>
          <a:xfrm>
            <a:off x="6317124" y="4646379"/>
            <a:ext cx="5436006" cy="646327"/>
          </a:xfrm>
          <a:prstGeom prst="rect">
            <a:avLst/>
          </a:prstGeom>
          <a:ln w="12700">
            <a:miter lim="400000"/>
          </a:ln>
        </p:spPr>
        <p:txBody>
          <a:bodyPr lIns="45718" tIns="45718" rIns="45718" bIns="45718">
            <a:spAutoFit/>
          </a:bodyPr>
          <a:lstStyle/>
          <a:p>
            <a:pPr>
              <a:defRPr sz="1200">
                <a:latin typeface="Arial" panose="020B0604020202090204"/>
                <a:ea typeface="Arial" panose="020B0604020202090204"/>
                <a:cs typeface="Arial" panose="020B0604020202090204"/>
                <a:sym typeface="Arial" panose="020B0604020202090204"/>
              </a:defRPr>
            </a:pPr>
            <a:r>
              <a:rPr dirty="0"/>
              <a:t>Data Collected from </a:t>
            </a:r>
            <a:r>
              <a:rPr lang="en-US" dirty="0"/>
              <a:t>VIDEOSTORY46K dataset</a:t>
            </a:r>
            <a:br>
              <a:rPr dirty="0"/>
            </a:br>
            <a:r>
              <a:rPr dirty="0"/>
              <a:t>Dataset Link </a:t>
            </a:r>
            <a:r>
              <a:rPr lang="en-US" dirty="0"/>
              <a:t>- </a:t>
            </a:r>
            <a:r>
              <a:rPr lang="en-US" dirty="0">
                <a:hlinkClick r:id="rId3"/>
              </a:rPr>
              <a:t>https://ivi.fnwi.uva.nl/isis/mediamill/datasets/videostory.php</a:t>
            </a:r>
            <a:endParaRPr u="sng" dirty="0">
              <a:solidFill>
                <a:srgbClr val="0000FF"/>
              </a:solidFill>
              <a:uFill>
                <a:solidFill>
                  <a:srgbClr val="0000FF"/>
                </a:solidFill>
              </a:uFill>
            </a:endParaRPr>
          </a:p>
          <a:p>
            <a:pPr>
              <a:defRPr sz="1200" u="sng">
                <a:solidFill>
                  <a:srgbClr val="0563C1"/>
                </a:solidFill>
                <a:uFill>
                  <a:solidFill>
                    <a:srgbClr val="0563C1"/>
                  </a:solidFill>
                </a:uFill>
                <a:latin typeface="Arial" panose="020B0604020202090204"/>
                <a:ea typeface="Arial" panose="020B0604020202090204"/>
                <a:cs typeface="Arial" panose="020B0604020202090204"/>
                <a:sym typeface="Arial" panose="020B0604020202090204"/>
              </a:defRPr>
            </a:pPr>
            <a:endParaRPr u="sng" dirty="0">
              <a:solidFill>
                <a:srgbClr val="0000FF"/>
              </a:solidFill>
              <a:uFill>
                <a:solidFill>
                  <a:srgbClr val="0000FF"/>
                </a:solidFill>
              </a:uFill>
              <a:hlinkClick r:id="rId4"/>
            </a:endParaRPr>
          </a:p>
        </p:txBody>
      </p:sp>
      <p:sp>
        <p:nvSpPr>
          <p:cNvPr id="134" name="https://github.ecodesamsung.com/SRIB-PRISM/VIT_25VI11VIT_Multimodal_AI-Driven_Contextual_Story_Title_Generation"/>
          <p:cNvSpPr txBox="1"/>
          <p:nvPr/>
        </p:nvSpPr>
        <p:spPr>
          <a:xfrm>
            <a:off x="6335950" y="2571774"/>
            <a:ext cx="5652077" cy="917287"/>
          </a:xfrm>
          <a:prstGeom prst="rect">
            <a:avLst/>
          </a:prstGeom>
          <a:ln w="12700">
            <a:miter lim="400000"/>
          </a:ln>
        </p:spPr>
        <p:txBody>
          <a:bodyPr lIns="45718" tIns="45718" rIns="45718" bIns="45718">
            <a:spAutoFit/>
          </a:bodyPr>
          <a:lstStyle/>
          <a:p>
            <a:r>
              <a:t>https://github.ecodesamsung.com/SRIB-PRISM/VIT_25VI11VIT_Multimodal_AI-Driven_Contextual_Story_Title_Generation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angle 7"/>
          <p:cNvSpPr/>
          <p:nvPr/>
        </p:nvSpPr>
        <p:spPr>
          <a:xfrm>
            <a:off x="167259" y="700410"/>
            <a:ext cx="11840511" cy="924142"/>
          </a:xfrm>
          <a:prstGeom prst="rect">
            <a:avLst/>
          </a:prstGeom>
          <a:solidFill>
            <a:srgbClr val="404040"/>
          </a:solidFill>
          <a:ln w="12700">
            <a:miter lim="400000"/>
          </a:ln>
          <a:effectLst>
            <a:outerShdw blurRad="50800" dist="38100" dir="8100000" rotWithShape="0">
              <a:srgbClr val="000000">
                <a:alpha val="40000"/>
              </a:srgbClr>
            </a:outerShdw>
          </a:effectLst>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137" name="Rectangle 10"/>
          <p:cNvSpPr/>
          <p:nvPr/>
        </p:nvSpPr>
        <p:spPr>
          <a:xfrm>
            <a:off x="1" y="105044"/>
            <a:ext cx="169332" cy="482533"/>
          </a:xfrm>
          <a:prstGeom prst="rect">
            <a:avLst/>
          </a:prstGeom>
          <a:solidFill>
            <a:srgbClr val="0E4094"/>
          </a:solidFill>
          <a:ln w="12700">
            <a:miter lim="400000"/>
          </a:ln>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138" name="Rectangle 13"/>
          <p:cNvSpPr/>
          <p:nvPr/>
        </p:nvSpPr>
        <p:spPr>
          <a:xfrm>
            <a:off x="237965" y="105044"/>
            <a:ext cx="75302" cy="482533"/>
          </a:xfrm>
          <a:prstGeom prst="rect">
            <a:avLst/>
          </a:prstGeom>
          <a:solidFill>
            <a:srgbClr val="BFBFBF"/>
          </a:solidFill>
          <a:ln w="12700">
            <a:miter lim="400000"/>
          </a:ln>
        </p:spPr>
        <p:txBody>
          <a:bodyPr lIns="45718" tIns="45718" rIns="45718" bIns="45718" anchor="ctr"/>
          <a:lstStyle/>
          <a:p>
            <a:pPr algn="ctr">
              <a:defRPr>
                <a:solidFill>
                  <a:srgbClr val="FFFFFF"/>
                </a:solidFill>
                <a:latin typeface="SamsungOne 600C"/>
                <a:ea typeface="SamsungOne 600C"/>
                <a:cs typeface="SamsungOne 600C"/>
                <a:sym typeface="SamsungOne 600C"/>
              </a:defRPr>
            </a:pPr>
            <a:endParaRPr/>
          </a:p>
        </p:txBody>
      </p:sp>
      <p:sp>
        <p:nvSpPr>
          <p:cNvPr id="139" name="Rectangle 24"/>
          <p:cNvSpPr txBox="1"/>
          <p:nvPr/>
        </p:nvSpPr>
        <p:spPr>
          <a:xfrm>
            <a:off x="218877" y="715653"/>
            <a:ext cx="1751555" cy="370839"/>
          </a:xfrm>
          <a:prstGeom prst="rect">
            <a:avLst/>
          </a:prstGeom>
          <a:ln w="12700">
            <a:miter lim="400000"/>
          </a:ln>
        </p:spPr>
        <p:txBody>
          <a:bodyPr wrap="none" lIns="45718" tIns="45718" rIns="45718" bIns="45718">
            <a:spAutoFit/>
          </a:bodyPr>
          <a:lstStyle>
            <a:lvl1pPr>
              <a:defRPr b="1">
                <a:solidFill>
                  <a:schemeClr val="accent6"/>
                </a:solidFill>
                <a:latin typeface="SamsungOne 600C"/>
                <a:ea typeface="SamsungOne 600C"/>
                <a:cs typeface="SamsungOne 600C"/>
                <a:sym typeface="SamsungOne 600C"/>
              </a:defRPr>
            </a:lvl1pPr>
          </a:lstStyle>
          <a:p>
            <a:r>
              <a:t>Worklet Details</a:t>
            </a:r>
          </a:p>
        </p:txBody>
      </p:sp>
      <p:sp>
        <p:nvSpPr>
          <p:cNvPr id="140" name="Rectangle 25"/>
          <p:cNvSpPr txBox="1"/>
          <p:nvPr/>
        </p:nvSpPr>
        <p:spPr>
          <a:xfrm>
            <a:off x="329182" y="1109868"/>
            <a:ext cx="4075757" cy="497839"/>
          </a:xfrm>
          <a:prstGeom prst="rect">
            <a:avLst/>
          </a:prstGeom>
          <a:ln w="12700">
            <a:miter lim="400000"/>
          </a:ln>
        </p:spPr>
        <p:txBody>
          <a:bodyPr lIns="45718" tIns="45718" rIns="45718" bIns="45718">
            <a:spAutoFit/>
          </a:bodyPr>
          <a:lstStyle/>
          <a:p>
            <a:pPr marL="228600" indent="-228600">
              <a:buSzPct val="100000"/>
              <a:buAutoNum type="arabicPeriod"/>
              <a:defRPr sz="1200">
                <a:solidFill>
                  <a:srgbClr val="FFFFFF"/>
                </a:solidFill>
                <a:latin typeface="SamsungOne 600C"/>
                <a:ea typeface="SamsungOne 600C"/>
                <a:cs typeface="SamsungOne 600C"/>
                <a:sym typeface="SamsungOne 600C"/>
              </a:defRPr>
            </a:pPr>
            <a:r>
              <a:t>Worklet ID: </a:t>
            </a:r>
            <a:r>
              <a:rPr sz="1400" b="1">
                <a:latin typeface="+mn-lt"/>
                <a:ea typeface="+mn-ea"/>
                <a:cs typeface="+mn-cs"/>
                <a:sym typeface="Calibri"/>
              </a:rPr>
              <a:t>25SPF15</a:t>
            </a:r>
            <a:endParaRPr sz="1400"/>
          </a:p>
          <a:p>
            <a:pPr marL="228600" indent="-228600">
              <a:buSzPct val="100000"/>
              <a:buAutoNum type="arabicPeriod"/>
              <a:defRPr sz="1200">
                <a:solidFill>
                  <a:srgbClr val="FFFFFF"/>
                </a:solidFill>
                <a:latin typeface="SamsungOne 600C"/>
                <a:ea typeface="SamsungOne 600C"/>
                <a:cs typeface="SamsungOne 600C"/>
                <a:sym typeface="SamsungOne 600C"/>
              </a:defRPr>
            </a:pPr>
            <a:r>
              <a:t>College Name: Vellore Institute Of Technology, Vellore</a:t>
            </a:r>
          </a:p>
        </p:txBody>
      </p:sp>
      <p:pic>
        <p:nvPicPr>
          <p:cNvPr id="141" name="Picture 32" descr="Picture 32"/>
          <p:cNvPicPr>
            <a:picLocks noChangeAspect="1"/>
          </p:cNvPicPr>
          <p:nvPr/>
        </p:nvPicPr>
        <p:blipFill>
          <a:blip r:embed="rId2"/>
          <a:srcRect l="4529" t="20267" r="4175" b="26842"/>
          <a:stretch>
            <a:fillRect/>
          </a:stretch>
        </p:blipFill>
        <p:spPr>
          <a:xfrm>
            <a:off x="10942080" y="117744"/>
            <a:ext cx="1249920" cy="474913"/>
          </a:xfrm>
          <a:prstGeom prst="rect">
            <a:avLst/>
          </a:prstGeom>
          <a:ln w="12700">
            <a:miter lim="400000"/>
            <a:headEnd/>
            <a:tailEnd/>
          </a:ln>
        </p:spPr>
      </p:pic>
      <p:grpSp>
        <p:nvGrpSpPr>
          <p:cNvPr id="144" name="Rectangle 33"/>
          <p:cNvGrpSpPr/>
          <p:nvPr/>
        </p:nvGrpSpPr>
        <p:grpSpPr>
          <a:xfrm>
            <a:off x="167257" y="2037121"/>
            <a:ext cx="11840515" cy="2016134"/>
            <a:chOff x="-1" y="0"/>
            <a:chExt cx="11840513" cy="2016133"/>
          </a:xfrm>
        </p:grpSpPr>
        <p:sp>
          <p:nvSpPr>
            <p:cNvPr id="142" name="Rectangle"/>
            <p:cNvSpPr/>
            <p:nvPr/>
          </p:nvSpPr>
          <p:spPr>
            <a:xfrm>
              <a:off x="-1" y="0"/>
              <a:ext cx="11840513" cy="2016133"/>
            </a:xfrm>
            <a:prstGeom prst="rect">
              <a:avLst/>
            </a:prstGeom>
            <a:solidFill>
              <a:srgbClr val="D9D9D9"/>
            </a:solidFill>
            <a:ln w="12700" cap="flat">
              <a:noFill/>
              <a:miter lim="400000"/>
            </a:ln>
            <a:effectLst>
              <a:outerShdw blurRad="50800" dist="38100" dir="8100000" rotWithShape="0">
                <a:srgbClr val="000000">
                  <a:alpha val="40000"/>
                </a:srgbClr>
              </a:outerShdw>
            </a:effectLst>
          </p:spPr>
          <p:txBody>
            <a:bodyPr wrap="square" lIns="45718" tIns="45718" rIns="45718" bIns="45718" numCol="1" anchor="ctr">
              <a:noAutofit/>
            </a:bodyPr>
            <a:lstStyle/>
            <a:p>
              <a:pPr>
                <a:defRPr>
                  <a:solidFill>
                    <a:srgbClr val="FFFFFF"/>
                  </a:solidFill>
                </a:defRPr>
              </a:pPr>
              <a:endParaRPr/>
            </a:p>
          </p:txBody>
        </p:sp>
        <p:sp>
          <p:nvSpPr>
            <p:cNvPr id="143" name="Status and future plan…"/>
            <p:cNvSpPr txBox="1"/>
            <p:nvPr/>
          </p:nvSpPr>
          <p:spPr>
            <a:xfrm>
              <a:off x="16970" y="279740"/>
              <a:ext cx="11749073" cy="735965"/>
            </a:xfrm>
            <a:prstGeom prst="rect">
              <a:avLst/>
            </a:prstGeom>
            <a:noFill/>
            <a:ln w="12700" cap="flat">
              <a:noFill/>
              <a:miter lim="400000"/>
            </a:ln>
            <a:effectLst/>
          </p:spPr>
          <p:txBody>
            <a:bodyPr wrap="square" lIns="45718" tIns="45718" rIns="45718" bIns="45718" numCol="1" anchor="ctr">
              <a:spAutoFit/>
            </a:bodyPr>
            <a:lstStyle/>
            <a:p>
              <a:pPr marL="0" lvl="1">
                <a:defRPr sz="1400">
                  <a:latin typeface="Arial" panose="020B0604020202090204"/>
                  <a:ea typeface="Arial" panose="020B0604020202090204"/>
                  <a:cs typeface="Arial" panose="020B0604020202090204"/>
                  <a:sym typeface="Arial" panose="020B0604020202090204"/>
                </a:defRPr>
              </a:pPr>
              <a:r>
                <a:rPr lang="en-US" dirty="0">
                  <a:sym typeface="+mn-ea"/>
                </a:rPr>
                <a:t>Cross-attention fusion model implemented.Validation and training loss is reduced for 3 epochs. Futher epochs will be performed and analyze the output. </a:t>
              </a:r>
              <a:endParaRPr lang="en-US" dirty="0"/>
            </a:p>
            <a:p>
              <a:pPr>
                <a:defRPr sz="1400">
                  <a:latin typeface="Arial" panose="020B0604020202090204"/>
                  <a:ea typeface="Arial" panose="020B0604020202090204"/>
                  <a:cs typeface="Arial" panose="020B0604020202090204"/>
                  <a:sym typeface="Arial" panose="020B0604020202090204"/>
                </a:defRPr>
              </a:pPr>
              <a:endParaRPr dirty="0"/>
            </a:p>
          </p:txBody>
        </p:sp>
      </p:grpSp>
      <p:sp>
        <p:nvSpPr>
          <p:cNvPr id="145" name="Rectangle 38"/>
          <p:cNvSpPr txBox="1"/>
          <p:nvPr/>
        </p:nvSpPr>
        <p:spPr>
          <a:xfrm>
            <a:off x="311487" y="2110196"/>
            <a:ext cx="2416146" cy="370839"/>
          </a:xfrm>
          <a:prstGeom prst="rect">
            <a:avLst/>
          </a:prstGeom>
          <a:ln w="12700">
            <a:miter lim="400000"/>
          </a:ln>
        </p:spPr>
        <p:txBody>
          <a:bodyPr wrap="none" lIns="45718" tIns="45718" rIns="45718" bIns="45718">
            <a:spAutoFit/>
          </a:bodyPr>
          <a:lstStyle>
            <a:lvl1pPr>
              <a:defRPr b="1">
                <a:solidFill>
                  <a:srgbClr val="0E4094"/>
                </a:solidFill>
                <a:latin typeface="SamsungOne 600C"/>
                <a:ea typeface="SamsungOne 600C"/>
                <a:cs typeface="SamsungOne 600C"/>
                <a:sym typeface="SamsungOne 600C"/>
              </a:defRPr>
            </a:lvl1pPr>
          </a:lstStyle>
          <a:p>
            <a:r>
              <a:t>Professor Comments</a:t>
            </a:r>
          </a:p>
        </p:txBody>
      </p:sp>
      <p:sp>
        <p:nvSpPr>
          <p:cNvPr id="146" name="Rectangle 12"/>
          <p:cNvSpPr/>
          <p:nvPr/>
        </p:nvSpPr>
        <p:spPr>
          <a:xfrm>
            <a:off x="167258" y="4172422"/>
            <a:ext cx="11840511" cy="2263751"/>
          </a:xfrm>
          <a:prstGeom prst="rect">
            <a:avLst/>
          </a:prstGeom>
          <a:solidFill>
            <a:srgbClr val="D9D9D9"/>
          </a:solidFill>
          <a:ln w="12700">
            <a:miter lim="400000"/>
          </a:ln>
          <a:effectLst>
            <a:outerShdw blurRad="50800" dist="38100" dir="8100000" rotWithShape="0">
              <a:srgbClr val="000000">
                <a:alpha val="40000"/>
              </a:srgbClr>
            </a:outerShdw>
          </a:effectLst>
        </p:spPr>
        <p:txBody>
          <a:bodyPr lIns="45718" tIns="45718" rIns="45718" bIns="45718" anchor="ctr"/>
          <a:lstStyle/>
          <a:p>
            <a:pPr>
              <a:defRPr sz="1200" b="1">
                <a:solidFill>
                  <a:srgbClr val="0E4094"/>
                </a:solidFill>
                <a:latin typeface="SamsungOne 600C"/>
                <a:ea typeface="SamsungOne 600C"/>
                <a:cs typeface="SamsungOne 600C"/>
                <a:sym typeface="SamsungOne 600C"/>
              </a:defRPr>
            </a:pPr>
            <a:endParaRPr/>
          </a:p>
        </p:txBody>
      </p:sp>
      <p:sp>
        <p:nvSpPr>
          <p:cNvPr id="147" name="Rectangle 14"/>
          <p:cNvSpPr txBox="1"/>
          <p:nvPr/>
        </p:nvSpPr>
        <p:spPr>
          <a:xfrm>
            <a:off x="271743" y="4286119"/>
            <a:ext cx="4020477" cy="370838"/>
          </a:xfrm>
          <a:prstGeom prst="rect">
            <a:avLst/>
          </a:prstGeom>
          <a:ln w="12700">
            <a:miter lim="400000"/>
          </a:ln>
        </p:spPr>
        <p:txBody>
          <a:bodyPr wrap="none" lIns="45718" tIns="45718" rIns="45718" bIns="45718">
            <a:spAutoFit/>
          </a:bodyPr>
          <a:lstStyle>
            <a:lvl1pPr>
              <a:defRPr b="1">
                <a:solidFill>
                  <a:srgbClr val="0E4094"/>
                </a:solidFill>
                <a:latin typeface="SamsungOne 600C"/>
                <a:ea typeface="SamsungOne 600C"/>
                <a:cs typeface="SamsungOne 600C"/>
                <a:sym typeface="SamsungOne 600C"/>
              </a:defRPr>
            </a:lvl1pPr>
          </a:lstStyle>
          <a:p>
            <a:r>
              <a:t>COMPUTATION RESOURCE Details:</a:t>
            </a:r>
          </a:p>
        </p:txBody>
      </p:sp>
      <p:sp>
        <p:nvSpPr>
          <p:cNvPr id="148" name="Rectangle 15"/>
          <p:cNvSpPr txBox="1"/>
          <p:nvPr/>
        </p:nvSpPr>
        <p:spPr>
          <a:xfrm>
            <a:off x="282588" y="4681745"/>
            <a:ext cx="9803241" cy="2524022"/>
          </a:xfrm>
          <a:prstGeom prst="rect">
            <a:avLst/>
          </a:prstGeom>
          <a:ln w="12700">
            <a:miter lim="400000"/>
          </a:ln>
        </p:spPr>
        <p:txBody>
          <a:bodyPr wrap="square" lIns="45718" tIns="45718" rIns="45718" bIns="45718">
            <a:spAutoFit/>
          </a:bodyPr>
          <a:lstStyle/>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r>
              <a:rPr dirty="0"/>
              <a:t>With the development phase complete, we are now leveraging the on-campus Samsung Prism systems to scale up the preprocessing pipeline for the full dataset and commence model training.</a:t>
            </a:r>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a:p>
            <a:pPr marL="171450" indent="-171450">
              <a:buSzPct val="100000"/>
              <a:buFont typeface="Arial" panose="020B0604020202090204"/>
              <a:buChar char="•"/>
              <a:defRPr sz="1400">
                <a:latin typeface="Arial" panose="020B0604020202090204"/>
                <a:ea typeface="Arial" panose="020B0604020202090204"/>
                <a:cs typeface="Arial" panose="020B0604020202090204"/>
                <a:sym typeface="Arial" panose="020B0604020202090204"/>
              </a:defRPr>
            </a:pPr>
            <a:endParaRPr dirty="0"/>
          </a:p>
        </p:txBody>
      </p:sp>
      <p:sp>
        <p:nvSpPr>
          <p:cNvPr id="149" name="TextBox 1"/>
          <p:cNvSpPr txBox="1"/>
          <p:nvPr/>
        </p:nvSpPr>
        <p:spPr>
          <a:xfrm>
            <a:off x="358985" y="189402"/>
            <a:ext cx="9931905" cy="396239"/>
          </a:xfrm>
          <a:prstGeom prst="rect">
            <a:avLst/>
          </a:prstGeom>
          <a:ln w="12700">
            <a:miter lim="400000"/>
          </a:ln>
        </p:spPr>
        <p:txBody>
          <a:bodyPr lIns="45718" tIns="45718" rIns="45718" bIns="45718" anchor="ctr">
            <a:spAutoFit/>
          </a:bodyPr>
          <a:lstStyle>
            <a:lvl1pPr>
              <a:defRPr sz="2000">
                <a:latin typeface="SamsungOne 600C"/>
                <a:ea typeface="SamsungOne 600C"/>
                <a:cs typeface="SamsungOne 600C"/>
                <a:sym typeface="SamsungOne 600C"/>
              </a:defRPr>
            </a:lvl1pPr>
          </a:lstStyle>
          <a:p>
            <a:r>
              <a:t>Work-let Name: Multimodal AI-Driven Contextual Story Title Generation</a:t>
            </a:r>
          </a:p>
        </p:txBody>
      </p:sp>
      <p:sp>
        <p:nvSpPr>
          <p:cNvPr id="150" name="TextBox 2"/>
          <p:cNvSpPr txBox="1"/>
          <p:nvPr/>
        </p:nvSpPr>
        <p:spPr>
          <a:xfrm>
            <a:off x="10085830" y="6487914"/>
            <a:ext cx="2060450" cy="370839"/>
          </a:xfrm>
          <a:prstGeom prst="rect">
            <a:avLst/>
          </a:prstGeom>
          <a:ln w="12700">
            <a:miter lim="400000"/>
          </a:ln>
        </p:spPr>
        <p:txBody>
          <a:bodyPr lIns="45718" tIns="45718" rIns="45718" bIns="45718" anchor="ctr">
            <a:spAutoFit/>
          </a:bodyPr>
          <a:lstStyle>
            <a:lvl1pPr>
              <a:defRPr>
                <a:latin typeface="SamsungOne 600C"/>
                <a:ea typeface="SamsungOne 600C"/>
                <a:cs typeface="SamsungOne 600C"/>
                <a:sym typeface="SamsungOne 600C"/>
              </a:defRPr>
            </a:lvl1pPr>
          </a:lstStyle>
          <a:p>
            <a:r>
              <a:rPr dirty="0"/>
              <a:t>Date: 1</a:t>
            </a:r>
            <a:r>
              <a:rPr lang="en-US" dirty="0"/>
              <a:t>6/12</a:t>
            </a:r>
            <a:r>
              <a:rPr dirty="0"/>
              <a:t>/2025</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roject Milestones"/>
          <p:cNvSpPr txBox="1">
            <a:spLocks noGrp="1"/>
          </p:cNvSpPr>
          <p:nvPr>
            <p:ph type="title"/>
          </p:nvPr>
        </p:nvSpPr>
        <p:spPr>
          <a:prstGeom prst="rect">
            <a:avLst/>
          </a:prstGeom>
        </p:spPr>
        <p:txBody>
          <a:bodyPr/>
          <a:lstStyle/>
          <a:p>
            <a:r>
              <a:rPr lang="en-US" dirty="0"/>
              <a:t>Dataset</a:t>
            </a:r>
            <a:endParaRPr dirty="0"/>
          </a:p>
        </p:txBody>
      </p:sp>
      <p:sp>
        <p:nvSpPr>
          <p:cNvPr id="153" name="Milestone 1: Data Preprocessing &amp; Feature Engineering…"/>
          <p:cNvSpPr txBox="1">
            <a:spLocks noGrp="1"/>
          </p:cNvSpPr>
          <p:nvPr>
            <p:ph type="body" idx="1"/>
          </p:nvPr>
        </p:nvSpPr>
        <p:spPr>
          <a:xfrm>
            <a:off x="931625" y="1662130"/>
            <a:ext cx="10464801" cy="4249739"/>
          </a:xfrm>
          <a:prstGeom prst="rect">
            <a:avLst/>
          </a:prstGeom>
        </p:spPr>
        <p:txBody>
          <a:bodyPr>
            <a:normAutofit/>
          </a:bodyPr>
          <a:lstStyle/>
          <a:p>
            <a:r>
              <a:rPr lang="en-US" sz="1800" b="1" dirty="0"/>
              <a:t>Initial Dataset</a:t>
            </a:r>
          </a:p>
          <a:p>
            <a:r>
              <a:rPr lang="en-US" sz="1800" dirty="0"/>
              <a:t>Started with </a:t>
            </a:r>
            <a:r>
              <a:rPr lang="en-US" sz="1800" b="1" dirty="0"/>
              <a:t>MSR-VTT (Microsoft) </a:t>
            </a:r>
            <a:r>
              <a:rPr lang="en-US" sz="1800" dirty="0"/>
              <a:t>dataset</a:t>
            </a:r>
          </a:p>
          <a:p>
            <a:r>
              <a:rPr lang="en-US" sz="1800" dirty="0"/>
              <a:t>Observed major issues:</a:t>
            </a:r>
          </a:p>
          <a:p>
            <a:pPr lvl="1"/>
            <a:r>
              <a:rPr lang="en-US" sz="1800" dirty="0"/>
              <a:t>Noisy and low quality videos</a:t>
            </a:r>
          </a:p>
          <a:p>
            <a:r>
              <a:rPr lang="en-US" sz="1800" b="1" dirty="0"/>
              <a:t>Updated Dataset</a:t>
            </a:r>
          </a:p>
          <a:p>
            <a:r>
              <a:rPr lang="en-US" sz="1800" dirty="0"/>
              <a:t>Shifted to </a:t>
            </a:r>
            <a:r>
              <a:rPr lang="en-US" sz="1800" b="1" dirty="0"/>
              <a:t>VideoStory48K-style dataset</a:t>
            </a:r>
          </a:p>
          <a:p>
            <a:r>
              <a:rPr lang="en-US" sz="1800" dirty="0"/>
              <a:t>Videos are clear and all of them are in English</a:t>
            </a:r>
          </a:p>
          <a:p>
            <a:r>
              <a:rPr lang="en-US" sz="1800" dirty="0"/>
              <a:t>Took out 350 videos from the dataset to verify the architecture and the model</a:t>
            </a:r>
          </a:p>
          <a:p>
            <a:r>
              <a:rPr lang="en-US" sz="1800" b="1" dirty="0"/>
              <a:t>Issues in videostory48k :</a:t>
            </a:r>
          </a:p>
          <a:p>
            <a:pPr lvl="1"/>
            <a:r>
              <a:rPr lang="en-US" sz="1800" dirty="0"/>
              <a:t>Ground truth isn’t grammatically correct – just contains random words which might relate to video</a:t>
            </a:r>
          </a:p>
          <a:p>
            <a:pPr lvl="1"/>
            <a:r>
              <a:rPr lang="en-US" sz="1800" b="1" dirty="0"/>
              <a:t>Solution – </a:t>
            </a:r>
            <a:r>
              <a:rPr lang="en-US" sz="1800" dirty="0"/>
              <a:t>Wrote all the ground truth titles manually for all 350 videos</a:t>
            </a:r>
            <a:endParaRPr lang="en-US" sz="1800" b="1" dirty="0"/>
          </a:p>
        </p:txBody>
      </p:sp>
      <p:pic>
        <p:nvPicPr>
          <p:cNvPr id="154" name="Picture 32" descr="Picture 32"/>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Basic Architecture of the Model:"/>
          <p:cNvSpPr txBox="1">
            <a:spLocks noGrp="1"/>
          </p:cNvSpPr>
          <p:nvPr>
            <p:ph type="title"/>
          </p:nvPr>
        </p:nvSpPr>
        <p:spPr>
          <a:xfrm>
            <a:off x="653473" y="9991"/>
            <a:ext cx="10515600" cy="1325563"/>
          </a:xfrm>
          <a:prstGeom prst="rect">
            <a:avLst/>
          </a:prstGeom>
        </p:spPr>
        <p:txBody>
          <a:bodyPr>
            <a:normAutofit/>
          </a:bodyPr>
          <a:lstStyle/>
          <a:p>
            <a:r>
              <a:rPr lang="en-US" sz="3200" dirty="0"/>
              <a:t>Architecture</a:t>
            </a:r>
            <a:endParaRPr sz="3200" dirty="0"/>
          </a:p>
        </p:txBody>
      </p:sp>
      <p:pic>
        <p:nvPicPr>
          <p:cNvPr id="159" name="Picture 32" descr="Picture 32"/>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pic>
        <p:nvPicPr>
          <p:cNvPr id="5" name="Picture 4">
            <a:extLst>
              <a:ext uri="{FF2B5EF4-FFF2-40B4-BE49-F238E27FC236}">
                <a16:creationId xmlns:a16="http://schemas.microsoft.com/office/drawing/2014/main" id="{24F35BE9-CB61-3BAF-0A66-E048810CE1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5181" y="894667"/>
            <a:ext cx="10321637" cy="5629984"/>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B6D2-FBAD-66A8-B25F-3738658D004D}"/>
            </a:ext>
          </a:extLst>
        </p:cNvPr>
        <p:cNvGrpSpPr/>
        <p:nvPr/>
      </p:nvGrpSpPr>
      <p:grpSpPr>
        <a:xfrm>
          <a:off x="0" y="0"/>
          <a:ext cx="0" cy="0"/>
          <a:chOff x="0" y="0"/>
          <a:chExt cx="0" cy="0"/>
        </a:xfrm>
      </p:grpSpPr>
      <p:sp>
        <p:nvSpPr>
          <p:cNvPr id="156" name="Basic Architecture of the Model:">
            <a:extLst>
              <a:ext uri="{FF2B5EF4-FFF2-40B4-BE49-F238E27FC236}">
                <a16:creationId xmlns:a16="http://schemas.microsoft.com/office/drawing/2014/main" id="{31257FCF-D62D-3F1A-7E8D-FB7042343242}"/>
              </a:ext>
            </a:extLst>
          </p:cNvPr>
          <p:cNvSpPr txBox="1">
            <a:spLocks noGrp="1"/>
          </p:cNvSpPr>
          <p:nvPr>
            <p:ph type="title"/>
          </p:nvPr>
        </p:nvSpPr>
        <p:spPr>
          <a:xfrm>
            <a:off x="653473" y="9991"/>
            <a:ext cx="10515600" cy="1325563"/>
          </a:xfrm>
          <a:prstGeom prst="rect">
            <a:avLst/>
          </a:prstGeom>
        </p:spPr>
        <p:txBody>
          <a:bodyPr>
            <a:normAutofit/>
          </a:bodyPr>
          <a:lstStyle/>
          <a:p>
            <a:r>
              <a:rPr lang="en-US" sz="3200" dirty="0"/>
              <a:t>Updated Architecture</a:t>
            </a:r>
            <a:endParaRPr sz="3200" dirty="0"/>
          </a:p>
        </p:txBody>
      </p:sp>
      <p:pic>
        <p:nvPicPr>
          <p:cNvPr id="159" name="Picture 32" descr="Picture 32">
            <a:extLst>
              <a:ext uri="{FF2B5EF4-FFF2-40B4-BE49-F238E27FC236}">
                <a16:creationId xmlns:a16="http://schemas.microsoft.com/office/drawing/2014/main" id="{807F443C-C023-D2EC-67F4-2C10498E7C77}"/>
              </a:ext>
            </a:extLst>
          </p:cNvPr>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sp>
        <p:nvSpPr>
          <p:cNvPr id="2" name="AutoShape 2">
            <a:extLst>
              <a:ext uri="{FF2B5EF4-FFF2-40B4-BE49-F238E27FC236}">
                <a16:creationId xmlns:a16="http://schemas.microsoft.com/office/drawing/2014/main" id="{B12E890E-28AB-BCD4-B028-CF731E7A0004}"/>
              </a:ext>
            </a:extLst>
          </p:cNvPr>
          <p:cNvSpPr>
            <a:spLocks noChangeAspect="1" noChangeArrowheads="1"/>
          </p:cNvSpPr>
          <p:nvPr/>
        </p:nvSpPr>
        <p:spPr bwMode="auto">
          <a:xfrm>
            <a:off x="5943600" y="3276600"/>
            <a:ext cx="3675888" cy="36758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4D641BA0-05B0-EB5C-0B41-E9C4D0B1C8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8480" y="1251394"/>
            <a:ext cx="9753600" cy="5324475"/>
          </a:xfrm>
          <a:prstGeom prst="rect">
            <a:avLst/>
          </a:prstGeom>
        </p:spPr>
      </p:pic>
    </p:spTree>
    <p:extLst>
      <p:ext uri="{BB962C8B-B14F-4D97-AF65-F5344CB8AC3E}">
        <p14:creationId xmlns:p14="http://schemas.microsoft.com/office/powerpoint/2010/main" val="368649847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AE02C-D2B0-BBF2-2AF3-E454D769FAD6}"/>
            </a:ext>
          </a:extLst>
        </p:cNvPr>
        <p:cNvGrpSpPr/>
        <p:nvPr/>
      </p:nvGrpSpPr>
      <p:grpSpPr>
        <a:xfrm>
          <a:off x="0" y="0"/>
          <a:ext cx="0" cy="0"/>
          <a:chOff x="0" y="0"/>
          <a:chExt cx="0" cy="0"/>
        </a:xfrm>
      </p:grpSpPr>
      <p:sp>
        <p:nvSpPr>
          <p:cNvPr id="156" name="Basic Architecture of the Model:">
            <a:extLst>
              <a:ext uri="{FF2B5EF4-FFF2-40B4-BE49-F238E27FC236}">
                <a16:creationId xmlns:a16="http://schemas.microsoft.com/office/drawing/2014/main" id="{3873D866-5211-B4B1-5403-5F195F74F8F8}"/>
              </a:ext>
            </a:extLst>
          </p:cNvPr>
          <p:cNvSpPr txBox="1">
            <a:spLocks noGrp="1"/>
          </p:cNvSpPr>
          <p:nvPr>
            <p:ph type="title"/>
          </p:nvPr>
        </p:nvSpPr>
        <p:spPr>
          <a:xfrm>
            <a:off x="653473" y="9991"/>
            <a:ext cx="10515600" cy="1325563"/>
          </a:xfrm>
          <a:prstGeom prst="rect">
            <a:avLst/>
          </a:prstGeom>
        </p:spPr>
        <p:txBody>
          <a:bodyPr>
            <a:normAutofit/>
          </a:bodyPr>
          <a:lstStyle/>
          <a:p>
            <a:r>
              <a:rPr lang="en-US" sz="3200" dirty="0"/>
              <a:t>How it works…</a:t>
            </a:r>
            <a:endParaRPr sz="3200" dirty="0"/>
          </a:p>
        </p:txBody>
      </p:sp>
      <p:pic>
        <p:nvPicPr>
          <p:cNvPr id="159" name="Picture 32" descr="Picture 32">
            <a:extLst>
              <a:ext uri="{FF2B5EF4-FFF2-40B4-BE49-F238E27FC236}">
                <a16:creationId xmlns:a16="http://schemas.microsoft.com/office/drawing/2014/main" id="{AEBE73E4-6269-E34A-2BBC-AE1D4F53567E}"/>
              </a:ext>
            </a:extLst>
          </p:cNvPr>
          <p:cNvPicPr>
            <a:picLocks noChangeAspect="1"/>
          </p:cNvPicPr>
          <p:nvPr/>
        </p:nvPicPr>
        <p:blipFill>
          <a:blip r:embed="rId4"/>
          <a:srcRect l="4529" t="20267" r="4175" b="26842"/>
          <a:stretch>
            <a:fillRect/>
          </a:stretch>
        </p:blipFill>
        <p:spPr>
          <a:xfrm>
            <a:off x="10942080" y="105044"/>
            <a:ext cx="1249920" cy="474913"/>
          </a:xfrm>
          <a:prstGeom prst="rect">
            <a:avLst/>
          </a:prstGeom>
          <a:ln w="12700">
            <a:miter lim="400000"/>
            <a:headEnd/>
            <a:tailEnd/>
          </a:ln>
        </p:spPr>
      </p:pic>
      <p:pic>
        <p:nvPicPr>
          <p:cNvPr id="2" name="vs_78">
            <a:hlinkClick r:id="" action="ppaction://media"/>
            <a:extLst>
              <a:ext uri="{FF2B5EF4-FFF2-40B4-BE49-F238E27FC236}">
                <a16:creationId xmlns:a16="http://schemas.microsoft.com/office/drawing/2014/main" id="{771B2B48-A9FA-DC58-B76D-D76576A6FEB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38489" y="1335554"/>
            <a:ext cx="8715021" cy="4902199"/>
          </a:xfrm>
          <a:prstGeom prst="rect">
            <a:avLst/>
          </a:prstGeom>
        </p:spPr>
      </p:pic>
      <p:sp>
        <p:nvSpPr>
          <p:cNvPr id="3" name="Basic Architecture of the Model:">
            <a:extLst>
              <a:ext uri="{FF2B5EF4-FFF2-40B4-BE49-F238E27FC236}">
                <a16:creationId xmlns:a16="http://schemas.microsoft.com/office/drawing/2014/main" id="{AC5DAB41-8049-C6AC-F91D-21F464993478}"/>
              </a:ext>
            </a:extLst>
          </p:cNvPr>
          <p:cNvSpPr txBox="1">
            <a:spLocks/>
          </p:cNvSpPr>
          <p:nvPr/>
        </p:nvSpPr>
        <p:spPr>
          <a:xfrm>
            <a:off x="4667248" y="481047"/>
            <a:ext cx="2857501" cy="993054"/>
          </a:xfrm>
          <a:prstGeom prst="rect">
            <a:avLst/>
          </a:prstGeom>
          <a:ln w="12700">
            <a:miter lim="400000"/>
          </a:ln>
        </p:spPr>
        <p:txBody>
          <a:bodyPr lIns="45718" tIns="45718" rIns="45718" bIns="45718" anchor="ctr">
            <a:norm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sz="3200" dirty="0"/>
              <a:t>Input Video</a:t>
            </a:r>
          </a:p>
        </p:txBody>
      </p:sp>
    </p:spTree>
    <p:extLst>
      <p:ext uri="{BB962C8B-B14F-4D97-AF65-F5344CB8AC3E}">
        <p14:creationId xmlns:p14="http://schemas.microsoft.com/office/powerpoint/2010/main" val="23859320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23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AE02C-D2B0-BBF2-2AF3-E454D769FAD6}"/>
            </a:ext>
          </a:extLst>
        </p:cNvPr>
        <p:cNvGrpSpPr/>
        <p:nvPr/>
      </p:nvGrpSpPr>
      <p:grpSpPr>
        <a:xfrm>
          <a:off x="0" y="0"/>
          <a:ext cx="0" cy="0"/>
          <a:chOff x="0" y="0"/>
          <a:chExt cx="0" cy="0"/>
        </a:xfrm>
      </p:grpSpPr>
      <p:sp>
        <p:nvSpPr>
          <p:cNvPr id="156" name="Basic Architecture of the Model:">
            <a:extLst>
              <a:ext uri="{FF2B5EF4-FFF2-40B4-BE49-F238E27FC236}">
                <a16:creationId xmlns:a16="http://schemas.microsoft.com/office/drawing/2014/main" id="{3873D866-5211-B4B1-5403-5F195F74F8F8}"/>
              </a:ext>
            </a:extLst>
          </p:cNvPr>
          <p:cNvSpPr txBox="1">
            <a:spLocks noGrp="1"/>
          </p:cNvSpPr>
          <p:nvPr>
            <p:ph type="title"/>
          </p:nvPr>
        </p:nvSpPr>
        <p:spPr>
          <a:xfrm>
            <a:off x="653473" y="9991"/>
            <a:ext cx="10515600" cy="1325563"/>
          </a:xfrm>
          <a:prstGeom prst="rect">
            <a:avLst/>
          </a:prstGeom>
        </p:spPr>
        <p:txBody>
          <a:bodyPr>
            <a:normAutofit/>
          </a:bodyPr>
          <a:lstStyle/>
          <a:p>
            <a:r>
              <a:rPr lang="en-US" sz="3200" dirty="0"/>
              <a:t>How it works…</a:t>
            </a:r>
            <a:endParaRPr sz="3200" dirty="0"/>
          </a:p>
        </p:txBody>
      </p:sp>
      <p:pic>
        <p:nvPicPr>
          <p:cNvPr id="159" name="Picture 32" descr="Picture 32">
            <a:extLst>
              <a:ext uri="{FF2B5EF4-FFF2-40B4-BE49-F238E27FC236}">
                <a16:creationId xmlns:a16="http://schemas.microsoft.com/office/drawing/2014/main" id="{AEBE73E4-6269-E34A-2BBC-AE1D4F53567E}"/>
              </a:ext>
            </a:extLst>
          </p:cNvPr>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pic>
        <p:nvPicPr>
          <p:cNvPr id="2050" name="Picture 2">
            <a:extLst>
              <a:ext uri="{FF2B5EF4-FFF2-40B4-BE49-F238E27FC236}">
                <a16:creationId xmlns:a16="http://schemas.microsoft.com/office/drawing/2014/main" id="{942CE164-2694-D431-6C5E-210D77746D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3318" y="1335554"/>
            <a:ext cx="5033818" cy="9766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A9A3D36D-9E24-BB2B-0CF5-22B8EF66FB15}"/>
              </a:ext>
            </a:extLst>
          </p:cNvPr>
          <p:cNvGraphicFramePr>
            <a:graphicFrameLocks noGrp="1"/>
          </p:cNvGraphicFramePr>
          <p:nvPr>
            <p:extLst>
              <p:ext uri="{D42A27DB-BD31-4B8C-83A1-F6EECF244321}">
                <p14:modId xmlns:p14="http://schemas.microsoft.com/office/powerpoint/2010/main" val="37848979"/>
              </p:ext>
            </p:extLst>
          </p:nvPr>
        </p:nvGraphicFramePr>
        <p:xfrm>
          <a:off x="653472" y="2661117"/>
          <a:ext cx="10873510" cy="4045122"/>
        </p:xfrm>
        <a:graphic>
          <a:graphicData uri="http://schemas.openxmlformats.org/drawingml/2006/table">
            <a:tbl>
              <a:tblPr firstRow="1" bandRow="1">
                <a:tableStyleId>{5940675A-B579-460E-94D1-54222C63F5DA}</a:tableStyleId>
              </a:tblPr>
              <a:tblGrid>
                <a:gridCol w="2174702">
                  <a:extLst>
                    <a:ext uri="{9D8B030D-6E8A-4147-A177-3AD203B41FA5}">
                      <a16:colId xmlns:a16="http://schemas.microsoft.com/office/drawing/2014/main" val="1681506923"/>
                    </a:ext>
                  </a:extLst>
                </a:gridCol>
                <a:gridCol w="2174702">
                  <a:extLst>
                    <a:ext uri="{9D8B030D-6E8A-4147-A177-3AD203B41FA5}">
                      <a16:colId xmlns:a16="http://schemas.microsoft.com/office/drawing/2014/main" val="3473683481"/>
                    </a:ext>
                  </a:extLst>
                </a:gridCol>
                <a:gridCol w="2174702">
                  <a:extLst>
                    <a:ext uri="{9D8B030D-6E8A-4147-A177-3AD203B41FA5}">
                      <a16:colId xmlns:a16="http://schemas.microsoft.com/office/drawing/2014/main" val="3357613461"/>
                    </a:ext>
                  </a:extLst>
                </a:gridCol>
                <a:gridCol w="2174702">
                  <a:extLst>
                    <a:ext uri="{9D8B030D-6E8A-4147-A177-3AD203B41FA5}">
                      <a16:colId xmlns:a16="http://schemas.microsoft.com/office/drawing/2014/main" val="1385163592"/>
                    </a:ext>
                  </a:extLst>
                </a:gridCol>
                <a:gridCol w="2174702">
                  <a:extLst>
                    <a:ext uri="{9D8B030D-6E8A-4147-A177-3AD203B41FA5}">
                      <a16:colId xmlns:a16="http://schemas.microsoft.com/office/drawing/2014/main" val="3880306011"/>
                    </a:ext>
                  </a:extLst>
                </a:gridCol>
              </a:tblGrid>
              <a:tr h="844722">
                <a:tc>
                  <a:txBody>
                    <a:bodyPr/>
                    <a:lstStyle/>
                    <a:p>
                      <a:pPr algn="ctr"/>
                      <a:r>
                        <a:rPr lang="en-US" b="1" dirty="0"/>
                        <a:t>OCR TEXT </a:t>
                      </a:r>
                      <a:r>
                        <a:rPr lang="en-US" b="0" dirty="0"/>
                        <a:t>(</a:t>
                      </a:r>
                      <a:r>
                        <a:rPr lang="en-US" b="0" dirty="0" err="1"/>
                        <a:t>EasyOCR</a:t>
                      </a:r>
                      <a:r>
                        <a:rPr lang="en-US" b="0" dirty="0"/>
                        <a:t>)</a:t>
                      </a:r>
                      <a:endParaRPr lang="en-US" b="1" dirty="0"/>
                    </a:p>
                  </a:txBody>
                  <a:tcPr/>
                </a:tc>
                <a:tc>
                  <a:txBody>
                    <a:bodyPr/>
                    <a:lstStyle/>
                    <a:p>
                      <a:pPr algn="ctr"/>
                      <a:r>
                        <a:rPr lang="en-US" b="1" dirty="0"/>
                        <a:t>AUDIO TRANSCRIPTION </a:t>
                      </a:r>
                      <a:r>
                        <a:rPr lang="en-US" b="0" dirty="0"/>
                        <a:t>(Whisper - OpenAI)</a:t>
                      </a:r>
                      <a:endParaRPr lang="en-US" b="1" dirty="0"/>
                    </a:p>
                  </a:txBody>
                  <a:tcPr/>
                </a:tc>
                <a:tc>
                  <a:txBody>
                    <a:bodyPr/>
                    <a:lstStyle/>
                    <a:p>
                      <a:pPr algn="ctr"/>
                      <a:r>
                        <a:rPr lang="en-US" b="1" dirty="0"/>
                        <a:t>Ground Truth Title( Written Manually )</a:t>
                      </a:r>
                    </a:p>
                  </a:txBody>
                  <a:tcPr/>
                </a:tc>
                <a:tc>
                  <a:txBody>
                    <a:bodyPr/>
                    <a:lstStyle/>
                    <a:p>
                      <a:pPr algn="ctr"/>
                      <a:r>
                        <a:rPr lang="en-US" b="1" dirty="0"/>
                        <a:t>Title predicted after decoding with our transformer</a:t>
                      </a:r>
                      <a:br>
                        <a:rPr lang="en-US" b="1" dirty="0"/>
                      </a:br>
                      <a:r>
                        <a:rPr lang="en-US" b="1" dirty="0"/>
                        <a:t>(Cross Attention Fusion)</a:t>
                      </a:r>
                    </a:p>
                  </a:txBody>
                  <a:tcPr/>
                </a:tc>
                <a:tc>
                  <a:txBody>
                    <a:bodyPr/>
                    <a:lstStyle/>
                    <a:p>
                      <a:pPr algn="ctr"/>
                      <a:r>
                        <a:rPr lang="en-US" b="1" dirty="0"/>
                        <a:t>Title Generated after served to gemma-2-2b</a:t>
                      </a:r>
                    </a:p>
                  </a:txBody>
                  <a:tcPr/>
                </a:tc>
                <a:extLst>
                  <a:ext uri="{0D108BD9-81ED-4DB2-BD59-A6C34878D82A}">
                    <a16:rowId xmlns:a16="http://schemas.microsoft.com/office/drawing/2014/main" val="3268547305"/>
                  </a:ext>
                </a:extLst>
              </a:tr>
              <a:tr h="1078971">
                <a:tc>
                  <a:txBody>
                    <a:bodyPr/>
                    <a:lstStyle/>
                    <a:p>
                      <a:pPr algn="ctr"/>
                      <a:r>
                        <a:rPr lang="en-US" dirty="0"/>
                        <a:t>OLLIE BS 180</a:t>
                      </a:r>
                    </a:p>
                    <a:p>
                      <a:pPr algn="ctr"/>
                      <a:r>
                        <a:rPr lang="en-US" dirty="0"/>
                        <a:t>MELON 18 FRONTFLIP</a:t>
                      </a:r>
                    </a:p>
                    <a:p>
                      <a:pPr algn="ctr"/>
                      <a:r>
                        <a:rPr lang="en-US" dirty="0"/>
                        <a:t>SWITCH x1.5 112 LINE: 112</a:t>
                      </a:r>
                    </a:p>
                    <a:p>
                      <a:pPr algn="ctr"/>
                      <a:r>
                        <a:rPr lang="en-US" dirty="0"/>
                        <a:t>MELON 180 FRONTFLIP</a:t>
                      </a:r>
                    </a:p>
                    <a:p>
                      <a:pPr algn="ctr"/>
                      <a:r>
                        <a:rPr lang="en-US" dirty="0"/>
                        <a:t>124 LINE: 124</a:t>
                      </a:r>
                    </a:p>
                  </a:txBody>
                  <a:tcPr/>
                </a:tc>
                <a:tc>
                  <a:txBody>
                    <a:bodyPr/>
                    <a:lstStyle/>
                    <a:p>
                      <a:pPr algn="ctr"/>
                      <a:r>
                        <a:rPr lang="en-US" dirty="0"/>
                        <a:t>Hey guys, in this video today I'm going to be teaching you how to do a </a:t>
                      </a:r>
                      <a:r>
                        <a:rPr lang="en-US" dirty="0" err="1"/>
                        <a:t>frontflip</a:t>
                      </a:r>
                      <a:r>
                        <a:rPr lang="en-US" dirty="0"/>
                        <a:t> slash backflip on flat ground in skate 3 because what you want to do is when you're in the air you have to be in the air so not only you grab your board in the air and you do a </a:t>
                      </a:r>
                      <a:r>
                        <a:rPr lang="en-US" dirty="0" err="1"/>
                        <a:t>frontflip</a:t>
                      </a:r>
                      <a:r>
                        <a:rPr lang="en-US" dirty="0"/>
                        <a:t> or backflip.</a:t>
                      </a:r>
                    </a:p>
                    <a:p>
                      <a:pPr algn="ctr"/>
                      <a:r>
                        <a:rPr lang="en-US" dirty="0"/>
                        <a:t>Um front flips are easier in my opinion, so try to go with front flip if you want like an easier tutorial, please</a:t>
                      </a:r>
                    </a:p>
                    <a:p>
                      <a:pPr algn="ctr"/>
                      <a:r>
                        <a:rPr lang="en-US" dirty="0"/>
                        <a:t>Tell me and please subscribe. Thanks for watching guys. Peace</a:t>
                      </a:r>
                    </a:p>
                  </a:txBody>
                  <a:tcPr/>
                </a:tc>
                <a:tc>
                  <a:txBody>
                    <a:bodyPr/>
                    <a:lstStyle/>
                    <a:p>
                      <a:pPr algn="ctr"/>
                      <a:r>
                        <a:rPr lang="en-US" dirty="0"/>
                        <a:t>skating video game gameplay</a:t>
                      </a:r>
                    </a:p>
                  </a:txBody>
                  <a:tcPr/>
                </a:tc>
                <a:tc>
                  <a:txBody>
                    <a:bodyPr/>
                    <a:lstStyle/>
                    <a:p>
                      <a:pPr algn="ctr"/>
                      <a:r>
                        <a:rPr lang="en-US" dirty="0"/>
                        <a:t>skating</a:t>
                      </a:r>
                    </a:p>
                  </a:txBody>
                  <a:tcPr/>
                </a:tc>
                <a:tc>
                  <a:txBody>
                    <a:bodyPr/>
                    <a:lstStyle/>
                    <a:p>
                      <a:pPr algn="ctr"/>
                      <a:r>
                        <a:rPr lang="en-US" sz="1200" b="0" i="0" u="none" strike="noStrike" cap="none" spc="0" baseline="0" dirty="0">
                          <a:solidFill>
                            <a:schemeClr val="tx1"/>
                          </a:solidFill>
                          <a:effectLst/>
                          <a:uFillTx/>
                          <a:latin typeface="+mn-lt"/>
                          <a:ea typeface="+mn-ea"/>
                          <a:cs typeface="+mn-cs"/>
                          <a:sym typeface="Calibri"/>
                        </a:rPr>
                        <a:t>Skate 3 Front Flip Tutorial</a:t>
                      </a:r>
                      <a:endParaRPr lang="en-US" dirty="0"/>
                    </a:p>
                  </a:txBody>
                  <a:tcPr/>
                </a:tc>
                <a:extLst>
                  <a:ext uri="{0D108BD9-81ED-4DB2-BD59-A6C34878D82A}">
                    <a16:rowId xmlns:a16="http://schemas.microsoft.com/office/drawing/2014/main" val="3075403872"/>
                  </a:ext>
                </a:extLst>
              </a:tr>
            </a:tbl>
          </a:graphicData>
        </a:graphic>
      </p:graphicFrame>
    </p:spTree>
    <p:extLst>
      <p:ext uri="{BB962C8B-B14F-4D97-AF65-F5344CB8AC3E}">
        <p14:creationId xmlns:p14="http://schemas.microsoft.com/office/powerpoint/2010/main" val="187725664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725AF4D-7DD6-C4D3-620C-3379CC8C0F72}"/>
              </a:ext>
            </a:extLst>
          </p:cNvPr>
          <p:cNvGraphicFramePr>
            <a:graphicFrameLocks noGrp="1"/>
          </p:cNvGraphicFramePr>
          <p:nvPr>
            <p:extLst>
              <p:ext uri="{D42A27DB-BD31-4B8C-83A1-F6EECF244321}">
                <p14:modId xmlns:p14="http://schemas.microsoft.com/office/powerpoint/2010/main" val="1719291579"/>
              </p:ext>
            </p:extLst>
          </p:nvPr>
        </p:nvGraphicFramePr>
        <p:xfrm>
          <a:off x="130627" y="137160"/>
          <a:ext cx="11930745" cy="6583680"/>
        </p:xfrm>
        <a:graphic>
          <a:graphicData uri="http://schemas.openxmlformats.org/drawingml/2006/table">
            <a:tbl>
              <a:tblPr firstRow="1" bandRow="1">
                <a:tableStyleId>{5940675A-B579-460E-94D1-54222C63F5DA}</a:tableStyleId>
              </a:tblPr>
              <a:tblGrid>
                <a:gridCol w="2386149">
                  <a:extLst>
                    <a:ext uri="{9D8B030D-6E8A-4147-A177-3AD203B41FA5}">
                      <a16:colId xmlns:a16="http://schemas.microsoft.com/office/drawing/2014/main" val="1681506923"/>
                    </a:ext>
                  </a:extLst>
                </a:gridCol>
                <a:gridCol w="2386149">
                  <a:extLst>
                    <a:ext uri="{9D8B030D-6E8A-4147-A177-3AD203B41FA5}">
                      <a16:colId xmlns:a16="http://schemas.microsoft.com/office/drawing/2014/main" val="3473683481"/>
                    </a:ext>
                  </a:extLst>
                </a:gridCol>
                <a:gridCol w="2386149">
                  <a:extLst>
                    <a:ext uri="{9D8B030D-6E8A-4147-A177-3AD203B41FA5}">
                      <a16:colId xmlns:a16="http://schemas.microsoft.com/office/drawing/2014/main" val="3357613461"/>
                    </a:ext>
                  </a:extLst>
                </a:gridCol>
                <a:gridCol w="2386149">
                  <a:extLst>
                    <a:ext uri="{9D8B030D-6E8A-4147-A177-3AD203B41FA5}">
                      <a16:colId xmlns:a16="http://schemas.microsoft.com/office/drawing/2014/main" val="1385163592"/>
                    </a:ext>
                  </a:extLst>
                </a:gridCol>
                <a:gridCol w="2386149">
                  <a:extLst>
                    <a:ext uri="{9D8B030D-6E8A-4147-A177-3AD203B41FA5}">
                      <a16:colId xmlns:a16="http://schemas.microsoft.com/office/drawing/2014/main" val="3880306011"/>
                    </a:ext>
                  </a:extLst>
                </a:gridCol>
              </a:tblGrid>
              <a:tr h="481629">
                <a:tc>
                  <a:txBody>
                    <a:bodyPr/>
                    <a:lstStyle/>
                    <a:p>
                      <a:pPr algn="ctr"/>
                      <a:r>
                        <a:rPr lang="en-US" b="1"/>
                        <a:t>OCR TEXT </a:t>
                      </a:r>
                      <a:r>
                        <a:rPr lang="en-US" b="0"/>
                        <a:t>(EasyOCR)</a:t>
                      </a:r>
                      <a:endParaRPr lang="en-US" b="1" dirty="0"/>
                    </a:p>
                  </a:txBody>
                  <a:tcPr/>
                </a:tc>
                <a:tc>
                  <a:txBody>
                    <a:bodyPr/>
                    <a:lstStyle/>
                    <a:p>
                      <a:pPr algn="ctr"/>
                      <a:r>
                        <a:rPr lang="en-US" b="1" dirty="0"/>
                        <a:t>AUDIO TRANSCRIPTION </a:t>
                      </a:r>
                      <a:r>
                        <a:rPr lang="en-US" b="0" dirty="0"/>
                        <a:t>(Whisper - OpenAI)</a:t>
                      </a:r>
                      <a:endParaRPr lang="en-US" b="1" dirty="0"/>
                    </a:p>
                  </a:txBody>
                  <a:tcPr/>
                </a:tc>
                <a:tc>
                  <a:txBody>
                    <a:bodyPr/>
                    <a:lstStyle/>
                    <a:p>
                      <a:pPr algn="ctr"/>
                      <a:r>
                        <a:rPr lang="en-US" b="1"/>
                        <a:t>Ground Truth Title( Written Manually )</a:t>
                      </a:r>
                      <a:endParaRPr lang="en-US" b="1" dirty="0"/>
                    </a:p>
                  </a:txBody>
                  <a:tcPr/>
                </a:tc>
                <a:tc>
                  <a:txBody>
                    <a:bodyPr/>
                    <a:lstStyle/>
                    <a:p>
                      <a:pPr algn="ctr"/>
                      <a:r>
                        <a:rPr lang="en-US" b="1"/>
                        <a:t>Title predicted after decoding with our transformer</a:t>
                      </a:r>
                      <a:br>
                        <a:rPr lang="en-US" b="1"/>
                      </a:br>
                      <a:r>
                        <a:rPr lang="en-US" b="1"/>
                        <a:t>(Cross Attention Fusion)</a:t>
                      </a:r>
                      <a:endParaRPr lang="en-US" b="1" dirty="0"/>
                    </a:p>
                  </a:txBody>
                  <a:tcPr/>
                </a:tc>
                <a:tc>
                  <a:txBody>
                    <a:bodyPr/>
                    <a:lstStyle/>
                    <a:p>
                      <a:pPr algn="ctr"/>
                      <a:r>
                        <a:rPr lang="en-US" b="1"/>
                        <a:t>Title Generated after served to gemma-2-2b</a:t>
                      </a:r>
                      <a:endParaRPr lang="en-US" b="1" dirty="0"/>
                    </a:p>
                  </a:txBody>
                  <a:tcPr/>
                </a:tc>
                <a:extLst>
                  <a:ext uri="{0D108BD9-81ED-4DB2-BD59-A6C34878D82A}">
                    <a16:rowId xmlns:a16="http://schemas.microsoft.com/office/drawing/2014/main" val="3268547305"/>
                  </a:ext>
                </a:extLst>
              </a:tr>
              <a:tr h="1824747">
                <a:tc>
                  <a:txBody>
                    <a:bodyPr/>
                    <a:lstStyle/>
                    <a:p>
                      <a:pPr algn="ctr"/>
                      <a:r>
                        <a:rPr lang="en-US" dirty="0"/>
                        <a:t>WAVE 3 NEWS SUNRISE</a:t>
                      </a:r>
                    </a:p>
                    <a:p>
                      <a:pPr algn="ctr"/>
                      <a:r>
                        <a:rPr lang="en-US" dirty="0"/>
                        <a:t>CEDRA MAYFIELD</a:t>
                      </a:r>
                    </a:p>
                    <a:p>
                      <a:pPr algn="ctr"/>
                      <a:r>
                        <a:rPr lang="en-US" dirty="0"/>
                        <a:t>DEADLY SHOOTING INVESTIGATION</a:t>
                      </a:r>
                    </a:p>
                    <a:p>
                      <a:pPr algn="ctr"/>
                      <a:r>
                        <a:rPr lang="en-US" dirty="0"/>
                        <a:t>KATHY BROWN</a:t>
                      </a:r>
                    </a:p>
                    <a:p>
                      <a:pPr algn="ctr"/>
                      <a:r>
                        <a:rPr lang="en-US" dirty="0"/>
                        <a:t>WHAT IF YOU COULD HELP SHAPE KENTUCKY'S FUTURE WITH JUST A FEW CLOCKS?</a:t>
                      </a:r>
                    </a:p>
                    <a:p>
                      <a:pPr algn="ctr"/>
                      <a:r>
                        <a:rPr lang="en-US" dirty="0"/>
                        <a:t>TODAY YOU CAN! WAVE 3 NEWS PRESENTS KENTUCKY' GIVES DAY</a:t>
                      </a:r>
                    </a:p>
                  </a:txBody>
                  <a:tcPr/>
                </a:tc>
                <a:tc>
                  <a:txBody>
                    <a:bodyPr/>
                    <a:lstStyle/>
                    <a:p>
                      <a:pPr algn="ctr"/>
                      <a:r>
                        <a:rPr lang="en-US" dirty="0"/>
                        <a:t>Cedra Mayfield is tracking the story and said her investigators think this</a:t>
                      </a:r>
                    </a:p>
                    <a:p>
                      <a:pPr algn="ctr"/>
                      <a:r>
                        <a:rPr lang="en-US" dirty="0"/>
                        <a:t>started as a case of a domestic situation. Yeah, Lauren and john right</a:t>
                      </a:r>
                    </a:p>
                    <a:p>
                      <a:pPr algn="ctr"/>
                      <a:r>
                        <a:rPr lang="en-US" dirty="0"/>
                        <a:t>now, investigators are taking a look into every single tip that they get one</a:t>
                      </a:r>
                    </a:p>
                    <a:p>
                      <a:pPr algn="ctr"/>
                      <a:r>
                        <a:rPr lang="en-US" dirty="0"/>
                        <a:t>of them a tip from neighbors that just moments before the shooting, yelling</a:t>
                      </a:r>
                    </a:p>
                    <a:p>
                      <a:pPr algn="ctr"/>
                      <a:r>
                        <a:rPr lang="en-US" dirty="0"/>
                        <a:t>could be heard coming from that family's home. Now, this all started</a:t>
                      </a:r>
                    </a:p>
                    <a:p>
                      <a:pPr algn="ctr"/>
                      <a:r>
                        <a:rPr lang="en-US" dirty="0"/>
                        <a:t>around 5 30 Tuesday evening is an argument between a father and a stepson.</a:t>
                      </a:r>
                    </a:p>
                    <a:p>
                      <a:pPr algn="ctr"/>
                      <a:r>
                        <a:rPr lang="en-US" dirty="0"/>
                        <a:t>But that dispute quickly escalated from yelling to gunfire. We caught up with</a:t>
                      </a:r>
                    </a:p>
                    <a:p>
                      <a:pPr algn="ctr"/>
                      <a:r>
                        <a:rPr lang="en-US" dirty="0"/>
                        <a:t>one neighbor who says she couldn't believe what she saw next.</a:t>
                      </a:r>
                    </a:p>
                    <a:p>
                      <a:pPr algn="ctr"/>
                      <a:r>
                        <a:rPr lang="en-US" dirty="0"/>
                        <a:t>All of a sudden we heard this gunfire, so I walk outside the garage and when I look</a:t>
                      </a:r>
                    </a:p>
                    <a:p>
                      <a:pPr algn="ctr"/>
                      <a:r>
                        <a:rPr lang="en-US" dirty="0"/>
                        <a:t>around I saw the stepson over his stepfather with a gun.</a:t>
                      </a:r>
                    </a:p>
                    <a:p>
                      <a:pPr algn="ctr"/>
                      <a:r>
                        <a:rPr lang="en-US" dirty="0"/>
                        <a:t>The victim identified as 37-year-old Hugo Martinez, the shooter right now only being</a:t>
                      </a:r>
                    </a:p>
                    <a:p>
                      <a:pPr algn="ctr"/>
                      <a:r>
                        <a:rPr lang="en-US" dirty="0"/>
                        <a:t>identified as Martinez' 17-year-old stepson.</a:t>
                      </a:r>
                    </a:p>
                  </a:txBody>
                  <a:tcPr/>
                </a:tc>
                <a:tc>
                  <a:txBody>
                    <a:bodyPr/>
                    <a:lstStyle/>
                    <a:p>
                      <a:pPr algn="ctr"/>
                      <a:r>
                        <a:rPr lang="en-US" dirty="0"/>
                        <a:t>shooting in </a:t>
                      </a:r>
                      <a:r>
                        <a:rPr lang="en-US" dirty="0" err="1"/>
                        <a:t>lousiville</a:t>
                      </a:r>
                      <a:r>
                        <a:rPr lang="en-US" dirty="0"/>
                        <a:t> in a family</a:t>
                      </a:r>
                    </a:p>
                  </a:txBody>
                  <a:tcPr/>
                </a:tc>
                <a:tc>
                  <a:txBody>
                    <a:bodyPr/>
                    <a:lstStyle/>
                    <a:p>
                      <a:pPr algn="ctr"/>
                      <a:r>
                        <a:rPr lang="en-US" dirty="0"/>
                        <a:t>shooting </a:t>
                      </a:r>
                      <a:r>
                        <a:rPr lang="en-US" dirty="0" err="1"/>
                        <a:t>shooting</a:t>
                      </a:r>
                      <a:r>
                        <a:rPr lang="en-US" dirty="0"/>
                        <a:t> </a:t>
                      </a:r>
                      <a:r>
                        <a:rPr lang="en-US" dirty="0" err="1"/>
                        <a:t>shooting</a:t>
                      </a:r>
                      <a:r>
                        <a:rPr lang="en-US" dirty="0"/>
                        <a:t> </a:t>
                      </a:r>
                      <a:r>
                        <a:rPr lang="en-US" dirty="0" err="1"/>
                        <a:t>shooting</a:t>
                      </a:r>
                      <a:r>
                        <a:rPr lang="en-US" dirty="0"/>
                        <a:t> </a:t>
                      </a:r>
                      <a:r>
                        <a:rPr lang="en-US" dirty="0" err="1"/>
                        <a:t>shooting</a:t>
                      </a:r>
                      <a:r>
                        <a:rPr lang="en-US" dirty="0"/>
                        <a:t> </a:t>
                      </a:r>
                      <a:r>
                        <a:rPr lang="en-US" dirty="0" err="1"/>
                        <a:t>shooting</a:t>
                      </a:r>
                      <a:r>
                        <a:rPr lang="en-US" dirty="0"/>
                        <a:t> </a:t>
                      </a:r>
                      <a:r>
                        <a:rPr lang="en-US" dirty="0" err="1"/>
                        <a:t>shooting</a:t>
                      </a:r>
                      <a:r>
                        <a:rPr lang="en-US" dirty="0"/>
                        <a:t> </a:t>
                      </a:r>
                      <a:r>
                        <a:rPr lang="en-US" dirty="0" err="1"/>
                        <a:t>shooting</a:t>
                      </a:r>
                      <a:r>
                        <a:rPr lang="en-US" dirty="0"/>
                        <a:t> </a:t>
                      </a:r>
                      <a:r>
                        <a:rPr lang="en-US" dirty="0" err="1"/>
                        <a:t>shooting</a:t>
                      </a:r>
                      <a:r>
                        <a:rPr lang="en-US" dirty="0"/>
                        <a:t> </a:t>
                      </a:r>
                      <a:r>
                        <a:rPr lang="en-US" dirty="0" err="1"/>
                        <a:t>shooting</a:t>
                      </a:r>
                      <a:r>
                        <a:rPr lang="en-US" dirty="0"/>
                        <a:t> </a:t>
                      </a:r>
                      <a:r>
                        <a:rPr lang="en-US" dirty="0" err="1"/>
                        <a:t>shooting</a:t>
                      </a:r>
                      <a:r>
                        <a:rPr lang="en-US" dirty="0"/>
                        <a:t> </a:t>
                      </a:r>
                      <a:r>
                        <a:rPr lang="en-US" dirty="0" err="1"/>
                        <a:t>shooting</a:t>
                      </a:r>
                      <a:endParaRPr lang="en-US" dirty="0"/>
                    </a:p>
                  </a:txBody>
                  <a:tcPr/>
                </a:tc>
                <a:tc>
                  <a:txBody>
                    <a:bodyPr/>
                    <a:lstStyle/>
                    <a:p>
                      <a:pPr algn="ctr"/>
                      <a:r>
                        <a:rPr lang="en-US" sz="1200" b="0" i="0" u="none" strike="noStrike" cap="none" spc="0" baseline="0" dirty="0">
                          <a:solidFill>
                            <a:schemeClr val="tx1"/>
                          </a:solidFill>
                          <a:effectLst/>
                          <a:uFillTx/>
                          <a:latin typeface="+mn-lt"/>
                          <a:ea typeface="+mn-ea"/>
                          <a:cs typeface="+mn-cs"/>
                          <a:sym typeface="Calibri"/>
                        </a:rPr>
                        <a:t>Deadly Shooting in Family Home</a:t>
                      </a:r>
                      <a:endParaRPr lang="en-US" dirty="0"/>
                    </a:p>
                  </a:txBody>
                  <a:tcPr/>
                </a:tc>
                <a:extLst>
                  <a:ext uri="{0D108BD9-81ED-4DB2-BD59-A6C34878D82A}">
                    <a16:rowId xmlns:a16="http://schemas.microsoft.com/office/drawing/2014/main" val="3075403872"/>
                  </a:ext>
                </a:extLst>
              </a:tr>
            </a:tbl>
          </a:graphicData>
        </a:graphic>
      </p:graphicFrame>
    </p:spTree>
    <p:extLst>
      <p:ext uri="{BB962C8B-B14F-4D97-AF65-F5344CB8AC3E}">
        <p14:creationId xmlns:p14="http://schemas.microsoft.com/office/powerpoint/2010/main" val="216158688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2D270-3EDB-A366-5605-34668CAD4DAC}"/>
            </a:ext>
          </a:extLst>
        </p:cNvPr>
        <p:cNvGrpSpPr/>
        <p:nvPr/>
      </p:nvGrpSpPr>
      <p:grpSpPr>
        <a:xfrm>
          <a:off x="0" y="0"/>
          <a:ext cx="0" cy="0"/>
          <a:chOff x="0" y="0"/>
          <a:chExt cx="0" cy="0"/>
        </a:xfrm>
      </p:grpSpPr>
      <p:pic>
        <p:nvPicPr>
          <p:cNvPr id="159" name="Picture 32" descr="Picture 32">
            <a:extLst>
              <a:ext uri="{FF2B5EF4-FFF2-40B4-BE49-F238E27FC236}">
                <a16:creationId xmlns:a16="http://schemas.microsoft.com/office/drawing/2014/main" id="{D6366C65-10D3-FD7A-D1EA-C0C59E7F80F4}"/>
              </a:ext>
            </a:extLst>
          </p:cNvPr>
          <p:cNvPicPr>
            <a:picLocks noChangeAspect="1"/>
          </p:cNvPicPr>
          <p:nvPr/>
        </p:nvPicPr>
        <p:blipFill>
          <a:blip r:embed="rId4"/>
          <a:srcRect l="4529" t="20267" r="4175" b="26842"/>
          <a:stretch>
            <a:fillRect/>
          </a:stretch>
        </p:blipFill>
        <p:spPr>
          <a:xfrm>
            <a:off x="10942080" y="105044"/>
            <a:ext cx="1249920" cy="474913"/>
          </a:xfrm>
          <a:prstGeom prst="rect">
            <a:avLst/>
          </a:prstGeom>
          <a:ln w="12700">
            <a:miter lim="400000"/>
            <a:headEnd/>
            <a:tailEnd/>
          </a:ln>
        </p:spPr>
      </p:pic>
      <p:sp>
        <p:nvSpPr>
          <p:cNvPr id="2" name="AutoShape 2">
            <a:extLst>
              <a:ext uri="{FF2B5EF4-FFF2-40B4-BE49-F238E27FC236}">
                <a16:creationId xmlns:a16="http://schemas.microsoft.com/office/drawing/2014/main" id="{DE39BB73-CA51-86D8-6171-BAB129517A1D}"/>
              </a:ext>
            </a:extLst>
          </p:cNvPr>
          <p:cNvSpPr>
            <a:spLocks noChangeAspect="1" noChangeArrowheads="1"/>
          </p:cNvSpPr>
          <p:nvPr/>
        </p:nvSpPr>
        <p:spPr bwMode="auto">
          <a:xfrm>
            <a:off x="5943600" y="3276600"/>
            <a:ext cx="3675888" cy="36758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vs_594">
            <a:hlinkClick r:id="" action="ppaction://media"/>
            <a:extLst>
              <a:ext uri="{FF2B5EF4-FFF2-40B4-BE49-F238E27FC236}">
                <a16:creationId xmlns:a16="http://schemas.microsoft.com/office/drawing/2014/main" id="{FCA811BD-FA6B-C1CE-A7C5-92FD7EB1485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298700" y="581025"/>
            <a:ext cx="7594600" cy="5695950"/>
          </a:xfrm>
          <a:prstGeom prst="rect">
            <a:avLst/>
          </a:prstGeom>
        </p:spPr>
      </p:pic>
      <p:sp>
        <p:nvSpPr>
          <p:cNvPr id="7" name="Basic Architecture of the Model:">
            <a:extLst>
              <a:ext uri="{FF2B5EF4-FFF2-40B4-BE49-F238E27FC236}">
                <a16:creationId xmlns:a16="http://schemas.microsoft.com/office/drawing/2014/main" id="{1D8BE3D3-0119-5405-2533-565380C5BFB4}"/>
              </a:ext>
            </a:extLst>
          </p:cNvPr>
          <p:cNvSpPr txBox="1">
            <a:spLocks/>
          </p:cNvSpPr>
          <p:nvPr/>
        </p:nvSpPr>
        <p:spPr>
          <a:xfrm>
            <a:off x="470152" y="-154027"/>
            <a:ext cx="2857501" cy="993054"/>
          </a:xfrm>
          <a:prstGeom prst="rect">
            <a:avLst/>
          </a:prstGeom>
          <a:ln w="12700">
            <a:miter lim="400000"/>
          </a:ln>
        </p:spPr>
        <p:txBody>
          <a:bodyPr lIns="45718" tIns="45718" rIns="45718" bIns="45718" anchor="ctr">
            <a:norm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sz="3200" dirty="0"/>
              <a:t>Input Video</a:t>
            </a:r>
          </a:p>
        </p:txBody>
      </p:sp>
    </p:spTree>
    <p:extLst>
      <p:ext uri="{BB962C8B-B14F-4D97-AF65-F5344CB8AC3E}">
        <p14:creationId xmlns:p14="http://schemas.microsoft.com/office/powerpoint/2010/main" val="8605950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35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2D270-3EDB-A366-5605-34668CAD4DAC}"/>
            </a:ext>
          </a:extLst>
        </p:cNvPr>
        <p:cNvGrpSpPr/>
        <p:nvPr/>
      </p:nvGrpSpPr>
      <p:grpSpPr>
        <a:xfrm>
          <a:off x="0" y="0"/>
          <a:ext cx="0" cy="0"/>
          <a:chOff x="0" y="0"/>
          <a:chExt cx="0" cy="0"/>
        </a:xfrm>
      </p:grpSpPr>
      <p:pic>
        <p:nvPicPr>
          <p:cNvPr id="159" name="Picture 32" descr="Picture 32">
            <a:extLst>
              <a:ext uri="{FF2B5EF4-FFF2-40B4-BE49-F238E27FC236}">
                <a16:creationId xmlns:a16="http://schemas.microsoft.com/office/drawing/2014/main" id="{D6366C65-10D3-FD7A-D1EA-C0C59E7F80F4}"/>
              </a:ext>
            </a:extLst>
          </p:cNvPr>
          <p:cNvPicPr>
            <a:picLocks noChangeAspect="1"/>
          </p:cNvPicPr>
          <p:nvPr/>
        </p:nvPicPr>
        <p:blipFill>
          <a:blip r:embed="rId4"/>
          <a:srcRect l="4529" t="20267" r="4175" b="26842"/>
          <a:stretch>
            <a:fillRect/>
          </a:stretch>
        </p:blipFill>
        <p:spPr>
          <a:xfrm>
            <a:off x="10942080" y="105044"/>
            <a:ext cx="1249920" cy="474913"/>
          </a:xfrm>
          <a:prstGeom prst="rect">
            <a:avLst/>
          </a:prstGeom>
          <a:ln w="12700">
            <a:miter lim="400000"/>
            <a:headEnd/>
            <a:tailEnd/>
          </a:ln>
        </p:spPr>
      </p:pic>
      <p:sp>
        <p:nvSpPr>
          <p:cNvPr id="2" name="AutoShape 2">
            <a:extLst>
              <a:ext uri="{FF2B5EF4-FFF2-40B4-BE49-F238E27FC236}">
                <a16:creationId xmlns:a16="http://schemas.microsoft.com/office/drawing/2014/main" id="{DE39BB73-CA51-86D8-6171-BAB129517A1D}"/>
              </a:ext>
            </a:extLst>
          </p:cNvPr>
          <p:cNvSpPr>
            <a:spLocks noChangeAspect="1" noChangeArrowheads="1"/>
          </p:cNvSpPr>
          <p:nvPr/>
        </p:nvSpPr>
        <p:spPr bwMode="auto">
          <a:xfrm>
            <a:off x="5943600" y="3276600"/>
            <a:ext cx="3675888" cy="36758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vs_598">
            <a:hlinkClick r:id="" action="ppaction://media"/>
            <a:extLst>
              <a:ext uri="{FF2B5EF4-FFF2-40B4-BE49-F238E27FC236}">
                <a16:creationId xmlns:a16="http://schemas.microsoft.com/office/drawing/2014/main" id="{D3D7018A-9CAE-BE61-C951-4EB69ED6D39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419604" y="671703"/>
            <a:ext cx="7352792" cy="5514594"/>
          </a:xfrm>
          <a:prstGeom prst="rect">
            <a:avLst/>
          </a:prstGeom>
        </p:spPr>
      </p:pic>
      <p:sp>
        <p:nvSpPr>
          <p:cNvPr id="4" name="Basic Architecture of the Model:">
            <a:extLst>
              <a:ext uri="{FF2B5EF4-FFF2-40B4-BE49-F238E27FC236}">
                <a16:creationId xmlns:a16="http://schemas.microsoft.com/office/drawing/2014/main" id="{0D17DA7D-9323-DD25-879C-348831225B2B}"/>
              </a:ext>
            </a:extLst>
          </p:cNvPr>
          <p:cNvSpPr txBox="1">
            <a:spLocks/>
          </p:cNvSpPr>
          <p:nvPr/>
        </p:nvSpPr>
        <p:spPr>
          <a:xfrm>
            <a:off x="543304" y="-94488"/>
            <a:ext cx="2857501" cy="993054"/>
          </a:xfrm>
          <a:prstGeom prst="rect">
            <a:avLst/>
          </a:prstGeom>
          <a:ln w="12700">
            <a:miter lim="400000"/>
          </a:ln>
        </p:spPr>
        <p:txBody>
          <a:bodyPr lIns="45718" tIns="45718" rIns="45718" bIns="45718" anchor="ctr">
            <a:norm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sz="3200" dirty="0"/>
              <a:t>Input Video</a:t>
            </a:r>
          </a:p>
        </p:txBody>
      </p:sp>
    </p:spTree>
    <p:extLst>
      <p:ext uri="{BB962C8B-B14F-4D97-AF65-F5344CB8AC3E}">
        <p14:creationId xmlns:p14="http://schemas.microsoft.com/office/powerpoint/2010/main" val="3143451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79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42457-D40B-BB53-1009-7708A66A28B8}"/>
            </a:ext>
          </a:extLst>
        </p:cNvPr>
        <p:cNvGrpSpPr/>
        <p:nvPr/>
      </p:nvGrpSpPr>
      <p:grpSpPr>
        <a:xfrm>
          <a:off x="0" y="0"/>
          <a:ext cx="0" cy="0"/>
          <a:chOff x="0" y="0"/>
          <a:chExt cx="0" cy="0"/>
        </a:xfrm>
      </p:grpSpPr>
      <p:pic>
        <p:nvPicPr>
          <p:cNvPr id="159" name="Picture 32" descr="Picture 32">
            <a:extLst>
              <a:ext uri="{FF2B5EF4-FFF2-40B4-BE49-F238E27FC236}">
                <a16:creationId xmlns:a16="http://schemas.microsoft.com/office/drawing/2014/main" id="{B4961FA8-F9FC-FFE1-7546-8A8263531212}"/>
              </a:ext>
            </a:extLst>
          </p:cNvPr>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pic>
        <p:nvPicPr>
          <p:cNvPr id="3" name="Picture 2">
            <a:extLst>
              <a:ext uri="{FF2B5EF4-FFF2-40B4-BE49-F238E27FC236}">
                <a16:creationId xmlns:a16="http://schemas.microsoft.com/office/drawing/2014/main" id="{1047CF91-584E-26EA-C979-04908EFDCFD3}"/>
              </a:ext>
            </a:extLst>
          </p:cNvPr>
          <p:cNvPicPr>
            <a:picLocks noChangeAspect="1"/>
          </p:cNvPicPr>
          <p:nvPr/>
        </p:nvPicPr>
        <p:blipFill>
          <a:blip r:embed="rId3"/>
          <a:stretch>
            <a:fillRect/>
          </a:stretch>
        </p:blipFill>
        <p:spPr>
          <a:xfrm>
            <a:off x="2118057" y="3291459"/>
            <a:ext cx="7955886" cy="1756029"/>
          </a:xfrm>
          <a:prstGeom prst="rect">
            <a:avLst/>
          </a:prstGeom>
        </p:spPr>
      </p:pic>
      <p:sp>
        <p:nvSpPr>
          <p:cNvPr id="7" name="Basic Architecture of the Model:">
            <a:extLst>
              <a:ext uri="{FF2B5EF4-FFF2-40B4-BE49-F238E27FC236}">
                <a16:creationId xmlns:a16="http://schemas.microsoft.com/office/drawing/2014/main" id="{DF67196E-9FB4-6167-62FC-93FCDF5549CF}"/>
              </a:ext>
            </a:extLst>
          </p:cNvPr>
          <p:cNvSpPr txBox="1">
            <a:spLocks/>
          </p:cNvSpPr>
          <p:nvPr/>
        </p:nvSpPr>
        <p:spPr>
          <a:xfrm>
            <a:off x="4667248" y="481047"/>
            <a:ext cx="2857501" cy="993054"/>
          </a:xfrm>
          <a:prstGeom prst="rect">
            <a:avLst/>
          </a:prstGeom>
          <a:ln w="12700">
            <a:miter lim="400000"/>
          </a:ln>
        </p:spPr>
        <p:txBody>
          <a:bodyPr lIns="45718" tIns="45718" rIns="45718" bIns="45718" anchor="ctr">
            <a:norm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sz="3200" dirty="0"/>
              <a:t>Results for v3</a:t>
            </a:r>
          </a:p>
        </p:txBody>
      </p:sp>
    </p:spTree>
    <p:extLst>
      <p:ext uri="{BB962C8B-B14F-4D97-AF65-F5344CB8AC3E}">
        <p14:creationId xmlns:p14="http://schemas.microsoft.com/office/powerpoint/2010/main" val="82901807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BED76-7760-CF49-9C78-B7C3C8164163}"/>
            </a:ext>
          </a:extLst>
        </p:cNvPr>
        <p:cNvGrpSpPr/>
        <p:nvPr/>
      </p:nvGrpSpPr>
      <p:grpSpPr>
        <a:xfrm>
          <a:off x="0" y="0"/>
          <a:ext cx="0" cy="0"/>
          <a:chOff x="0" y="0"/>
          <a:chExt cx="0" cy="0"/>
        </a:xfrm>
      </p:grpSpPr>
      <p:pic>
        <p:nvPicPr>
          <p:cNvPr id="159" name="Picture 32" descr="Picture 32">
            <a:extLst>
              <a:ext uri="{FF2B5EF4-FFF2-40B4-BE49-F238E27FC236}">
                <a16:creationId xmlns:a16="http://schemas.microsoft.com/office/drawing/2014/main" id="{25FAAF24-428E-E399-9D56-66AA40846693}"/>
              </a:ext>
            </a:extLst>
          </p:cNvPr>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sp>
        <p:nvSpPr>
          <p:cNvPr id="7" name="Basic Architecture of the Model:">
            <a:extLst>
              <a:ext uri="{FF2B5EF4-FFF2-40B4-BE49-F238E27FC236}">
                <a16:creationId xmlns:a16="http://schemas.microsoft.com/office/drawing/2014/main" id="{8C60A08D-34DA-4FC3-DE70-CF3F656D2065}"/>
              </a:ext>
            </a:extLst>
          </p:cNvPr>
          <p:cNvSpPr txBox="1">
            <a:spLocks/>
          </p:cNvSpPr>
          <p:nvPr/>
        </p:nvSpPr>
        <p:spPr>
          <a:xfrm>
            <a:off x="3853051" y="471903"/>
            <a:ext cx="4485896" cy="993054"/>
          </a:xfrm>
          <a:prstGeom prst="rect">
            <a:avLst/>
          </a:prstGeom>
          <a:ln w="12700">
            <a:miter lim="400000"/>
          </a:ln>
        </p:spPr>
        <p:txBody>
          <a:bodyPr lIns="45718" tIns="45718" rIns="45718" bIns="45718" anchor="ctr">
            <a:norm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sz="3200" dirty="0"/>
              <a:t>V4 - Parameter Budgeting</a:t>
            </a:r>
          </a:p>
        </p:txBody>
      </p:sp>
      <p:pic>
        <p:nvPicPr>
          <p:cNvPr id="5" name="Picture 4">
            <a:extLst>
              <a:ext uri="{FF2B5EF4-FFF2-40B4-BE49-F238E27FC236}">
                <a16:creationId xmlns:a16="http://schemas.microsoft.com/office/drawing/2014/main" id="{DC137574-204E-C84D-B908-9CBC8639B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3875" y="1397094"/>
            <a:ext cx="6394133" cy="4989003"/>
          </a:xfrm>
          <a:prstGeom prst="rect">
            <a:avLst/>
          </a:prstGeom>
        </p:spPr>
      </p:pic>
    </p:spTree>
    <p:extLst>
      <p:ext uri="{BB962C8B-B14F-4D97-AF65-F5344CB8AC3E}">
        <p14:creationId xmlns:p14="http://schemas.microsoft.com/office/powerpoint/2010/main" val="368955892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E03D7-606C-3E6D-1D05-6E95193E5A16}"/>
            </a:ext>
          </a:extLst>
        </p:cNvPr>
        <p:cNvGrpSpPr/>
        <p:nvPr/>
      </p:nvGrpSpPr>
      <p:grpSpPr>
        <a:xfrm>
          <a:off x="0" y="0"/>
          <a:ext cx="0" cy="0"/>
          <a:chOff x="0" y="0"/>
          <a:chExt cx="0" cy="0"/>
        </a:xfrm>
      </p:grpSpPr>
      <p:pic>
        <p:nvPicPr>
          <p:cNvPr id="159" name="Picture 32" descr="Picture 32">
            <a:extLst>
              <a:ext uri="{FF2B5EF4-FFF2-40B4-BE49-F238E27FC236}">
                <a16:creationId xmlns:a16="http://schemas.microsoft.com/office/drawing/2014/main" id="{74D9213E-ABEE-1624-DE85-E91A2ADD96C6}"/>
              </a:ext>
            </a:extLst>
          </p:cNvPr>
          <p:cNvPicPr>
            <a:picLocks noChangeAspect="1"/>
          </p:cNvPicPr>
          <p:nvPr/>
        </p:nvPicPr>
        <p:blipFill>
          <a:blip r:embed="rId2"/>
          <a:srcRect l="4529" t="20267" r="4175" b="26842"/>
          <a:stretch>
            <a:fillRect/>
          </a:stretch>
        </p:blipFill>
        <p:spPr>
          <a:xfrm>
            <a:off x="10942080" y="105044"/>
            <a:ext cx="1249920" cy="474913"/>
          </a:xfrm>
          <a:prstGeom prst="rect">
            <a:avLst/>
          </a:prstGeom>
          <a:ln w="12700">
            <a:miter lim="400000"/>
            <a:headEnd/>
            <a:tailEnd/>
          </a:ln>
        </p:spPr>
      </p:pic>
      <p:sp>
        <p:nvSpPr>
          <p:cNvPr id="7" name="Basic Architecture of the Model:">
            <a:extLst>
              <a:ext uri="{FF2B5EF4-FFF2-40B4-BE49-F238E27FC236}">
                <a16:creationId xmlns:a16="http://schemas.microsoft.com/office/drawing/2014/main" id="{5FBB729F-F1AB-36FB-6BDA-6C2BD1BF3259}"/>
              </a:ext>
            </a:extLst>
          </p:cNvPr>
          <p:cNvSpPr txBox="1">
            <a:spLocks/>
          </p:cNvSpPr>
          <p:nvPr/>
        </p:nvSpPr>
        <p:spPr>
          <a:xfrm>
            <a:off x="5444107" y="435327"/>
            <a:ext cx="4485896" cy="993054"/>
          </a:xfrm>
          <a:prstGeom prst="rect">
            <a:avLst/>
          </a:prstGeom>
          <a:ln w="12700">
            <a:miter lim="400000"/>
          </a:ln>
        </p:spPr>
        <p:txBody>
          <a:bodyPr lIns="45718" tIns="45718" rIns="45718" bIns="45718" anchor="ctr">
            <a:norm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sz="3200" dirty="0"/>
              <a:t>Results </a:t>
            </a:r>
          </a:p>
        </p:txBody>
      </p:sp>
      <p:pic>
        <p:nvPicPr>
          <p:cNvPr id="3" name="Picture 2">
            <a:extLst>
              <a:ext uri="{FF2B5EF4-FFF2-40B4-BE49-F238E27FC236}">
                <a16:creationId xmlns:a16="http://schemas.microsoft.com/office/drawing/2014/main" id="{9D5B768E-D4AE-AE2C-1719-CBE93B4C92B5}"/>
              </a:ext>
            </a:extLst>
          </p:cNvPr>
          <p:cNvPicPr>
            <a:picLocks noChangeAspect="1"/>
          </p:cNvPicPr>
          <p:nvPr/>
        </p:nvPicPr>
        <p:blipFill>
          <a:blip r:embed="rId3">
            <a:extLst>
              <a:ext uri="{28A0092B-C50C-407E-A947-70E740481C1C}">
                <a14:useLocalDpi xmlns:a14="http://schemas.microsoft.com/office/drawing/2010/main" val="0"/>
              </a:ext>
            </a:extLst>
          </a:blip>
          <a:srcRect t="65005"/>
          <a:stretch>
            <a:fillRect/>
          </a:stretch>
        </p:blipFill>
        <p:spPr>
          <a:xfrm>
            <a:off x="1412495" y="2377440"/>
            <a:ext cx="9367010" cy="2971800"/>
          </a:xfrm>
          <a:prstGeom prst="rect">
            <a:avLst/>
          </a:prstGeom>
        </p:spPr>
      </p:pic>
    </p:spTree>
    <p:extLst>
      <p:ext uri="{BB962C8B-B14F-4D97-AF65-F5344CB8AC3E}">
        <p14:creationId xmlns:p14="http://schemas.microsoft.com/office/powerpoint/2010/main" val="55245766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9019-F83A-C7DD-0920-56DC8D860BE4}"/>
            </a:ext>
          </a:extLst>
        </p:cNvPr>
        <p:cNvGrpSpPr/>
        <p:nvPr/>
      </p:nvGrpSpPr>
      <p:grpSpPr>
        <a:xfrm>
          <a:off x="0" y="0"/>
          <a:ext cx="0" cy="0"/>
          <a:chOff x="0" y="0"/>
          <a:chExt cx="0" cy="0"/>
        </a:xfrm>
      </p:grpSpPr>
      <p:sp>
        <p:nvSpPr>
          <p:cNvPr id="156" name="Basic Architecture of the Model:">
            <a:extLst>
              <a:ext uri="{FF2B5EF4-FFF2-40B4-BE49-F238E27FC236}">
                <a16:creationId xmlns:a16="http://schemas.microsoft.com/office/drawing/2014/main" id="{0E347DE1-CDBF-1B85-0BEA-5E52E4541690}"/>
              </a:ext>
            </a:extLst>
          </p:cNvPr>
          <p:cNvSpPr txBox="1">
            <a:spLocks noGrp="1"/>
          </p:cNvSpPr>
          <p:nvPr>
            <p:ph type="title"/>
          </p:nvPr>
        </p:nvSpPr>
        <p:spPr>
          <a:xfrm>
            <a:off x="653473" y="9991"/>
            <a:ext cx="10515600" cy="1325563"/>
          </a:xfrm>
          <a:prstGeom prst="rect">
            <a:avLst/>
          </a:prstGeom>
        </p:spPr>
        <p:txBody>
          <a:bodyPr>
            <a:normAutofit/>
          </a:bodyPr>
          <a:lstStyle/>
          <a:p>
            <a:r>
              <a:rPr lang="en-US" sz="3200" dirty="0"/>
              <a:t>Example - 2</a:t>
            </a:r>
            <a:endParaRPr sz="3200" dirty="0"/>
          </a:p>
        </p:txBody>
      </p:sp>
      <p:pic>
        <p:nvPicPr>
          <p:cNvPr id="159" name="Picture 32" descr="Picture 32">
            <a:extLst>
              <a:ext uri="{FF2B5EF4-FFF2-40B4-BE49-F238E27FC236}">
                <a16:creationId xmlns:a16="http://schemas.microsoft.com/office/drawing/2014/main" id="{66E99653-33D4-A8C5-F53F-00B6F7E538C0}"/>
              </a:ext>
            </a:extLst>
          </p:cNvPr>
          <p:cNvPicPr>
            <a:picLocks noChangeAspect="1"/>
          </p:cNvPicPr>
          <p:nvPr/>
        </p:nvPicPr>
        <p:blipFill>
          <a:blip r:embed="rId4"/>
          <a:srcRect l="4529" t="20267" r="4175" b="26842"/>
          <a:stretch>
            <a:fillRect/>
          </a:stretch>
        </p:blipFill>
        <p:spPr>
          <a:xfrm>
            <a:off x="10942080" y="105044"/>
            <a:ext cx="1249920" cy="474913"/>
          </a:xfrm>
          <a:prstGeom prst="rect">
            <a:avLst/>
          </a:prstGeom>
          <a:ln w="12700">
            <a:miter lim="400000"/>
            <a:headEnd/>
            <a:tailEnd/>
          </a:ln>
        </p:spPr>
      </p:pic>
      <p:pic>
        <p:nvPicPr>
          <p:cNvPr id="3" name="vs_86">
            <a:hlinkClick r:id="" action="ppaction://media"/>
            <a:extLst>
              <a:ext uri="{FF2B5EF4-FFF2-40B4-BE49-F238E27FC236}">
                <a16:creationId xmlns:a16="http://schemas.microsoft.com/office/drawing/2014/main" id="{39ACC187-0352-AC2D-F18A-B2A7B07410C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84719" y="1009084"/>
            <a:ext cx="6453108" cy="4839831"/>
          </a:xfrm>
          <a:prstGeom prst="rect">
            <a:avLst/>
          </a:prstGeom>
        </p:spPr>
      </p:pic>
    </p:spTree>
    <p:extLst>
      <p:ext uri="{BB962C8B-B14F-4D97-AF65-F5344CB8AC3E}">
        <p14:creationId xmlns:p14="http://schemas.microsoft.com/office/powerpoint/2010/main" val="115273436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43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579</TotalTime>
  <Words>922</Words>
  <Application>Microsoft Office PowerPoint</Application>
  <PresentationFormat>Widescreen</PresentationFormat>
  <Paragraphs>117</Paragraphs>
  <Slides>15</Slides>
  <Notes>0</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SamsungOne 600C</vt:lpstr>
      <vt:lpstr>Office Theme</vt:lpstr>
      <vt:lpstr>PowerPoint Presentation</vt:lpstr>
      <vt:lpstr>PowerPoint Presentation</vt:lpstr>
      <vt:lpstr>PowerPoint Presentation</vt:lpstr>
      <vt:lpstr>Dataset</vt:lpstr>
      <vt:lpstr>Architecture</vt:lpstr>
      <vt:lpstr>Updated Architecture</vt:lpstr>
      <vt:lpstr>How it works…</vt:lpstr>
      <vt:lpstr>How it works…</vt:lpstr>
      <vt:lpstr>PowerPoint Presentation</vt:lpstr>
      <vt:lpstr>PowerPoint Presentation</vt:lpstr>
      <vt:lpstr>PowerPoint Presentation</vt:lpstr>
      <vt:lpstr>PowerPoint Presentation</vt:lpstr>
      <vt:lpstr>PowerPoint Presentation</vt:lpstr>
      <vt:lpstr>PowerPoint Presentation</vt:lpstr>
      <vt:lpstr>Example - 2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Rajdeep P</cp:lastModifiedBy>
  <cp:revision>8</cp:revision>
  <cp:lastPrinted>2026-01-20T06:37:47Z</cp:lastPrinted>
  <dcterms:created xsi:type="dcterms:W3CDTF">2025-12-16T07:20:51Z</dcterms:created>
  <dcterms:modified xsi:type="dcterms:W3CDTF">2026-05-26T15:31:15Z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5237279C2D4F7B0C53084169D60F9D83_43</vt:lpwstr>
  </property>
  <property fmtid="{D5CDD505-2E9C-101B-9397-08002B2CF9AE}" pid="3" name="KSOProductBuildVer">
    <vt:lpwstr>1033-12.1.22554.22554</vt:lpwstr>
  </property>
</Properties>
</file>